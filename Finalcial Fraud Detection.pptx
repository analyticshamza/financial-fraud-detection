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jpg" ContentType="image/jp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084912" y="11"/>
            <a:ext cx="5203190" cy="7915275"/>
          </a:xfrm>
          <a:custGeom>
            <a:avLst/>
            <a:gdLst/>
            <a:ahLst/>
            <a:cxnLst/>
            <a:rect l="l" t="t" r="r" b="b"/>
            <a:pathLst>
              <a:path w="5203190" h="7915275">
                <a:moveTo>
                  <a:pt x="5203088" y="0"/>
                </a:moveTo>
                <a:lnTo>
                  <a:pt x="795578" y="0"/>
                </a:lnTo>
                <a:lnTo>
                  <a:pt x="1365935" y="843470"/>
                </a:lnTo>
                <a:lnTo>
                  <a:pt x="0" y="843470"/>
                </a:lnTo>
                <a:lnTo>
                  <a:pt x="4575632" y="7815478"/>
                </a:lnTo>
                <a:lnTo>
                  <a:pt x="4640719" y="7914653"/>
                </a:lnTo>
                <a:lnTo>
                  <a:pt x="4641088" y="7914653"/>
                </a:lnTo>
                <a:lnTo>
                  <a:pt x="5203088" y="7058279"/>
                </a:lnTo>
                <a:lnTo>
                  <a:pt x="5203088" y="6958825"/>
                </a:lnTo>
                <a:lnTo>
                  <a:pt x="4640897" y="7815478"/>
                </a:lnTo>
                <a:lnTo>
                  <a:pt x="101371" y="898118"/>
                </a:lnTo>
                <a:lnTo>
                  <a:pt x="1402892" y="898118"/>
                </a:lnTo>
                <a:lnTo>
                  <a:pt x="4654562" y="5706770"/>
                </a:lnTo>
                <a:lnTo>
                  <a:pt x="5203088" y="4895608"/>
                </a:lnTo>
                <a:lnTo>
                  <a:pt x="5203088" y="898118"/>
                </a:lnTo>
                <a:lnTo>
                  <a:pt x="5203088" y="843470"/>
                </a:lnTo>
                <a:lnTo>
                  <a:pt x="5203088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7036213" y="3713657"/>
            <a:ext cx="1252220" cy="3517900"/>
          </a:xfrm>
          <a:custGeom>
            <a:avLst/>
            <a:gdLst/>
            <a:ahLst/>
            <a:cxnLst/>
            <a:rect l="l" t="t" r="r" b="b"/>
            <a:pathLst>
              <a:path w="1252219" h="3517900">
                <a:moveTo>
                  <a:pt x="1251788" y="430174"/>
                </a:moveTo>
                <a:lnTo>
                  <a:pt x="0" y="430174"/>
                </a:lnTo>
                <a:lnTo>
                  <a:pt x="0" y="484784"/>
                </a:lnTo>
                <a:lnTo>
                  <a:pt x="0" y="3462934"/>
                </a:lnTo>
                <a:lnTo>
                  <a:pt x="0" y="3517544"/>
                </a:lnTo>
                <a:lnTo>
                  <a:pt x="1251788" y="3517544"/>
                </a:lnTo>
                <a:lnTo>
                  <a:pt x="1251788" y="3462934"/>
                </a:lnTo>
                <a:lnTo>
                  <a:pt x="54648" y="3462934"/>
                </a:lnTo>
                <a:lnTo>
                  <a:pt x="54648" y="484784"/>
                </a:lnTo>
                <a:lnTo>
                  <a:pt x="1251788" y="484784"/>
                </a:lnTo>
                <a:lnTo>
                  <a:pt x="1251788" y="430174"/>
                </a:lnTo>
                <a:close/>
              </a:path>
              <a:path w="1252219" h="3517900">
                <a:moveTo>
                  <a:pt x="1251788" y="0"/>
                </a:moveTo>
                <a:lnTo>
                  <a:pt x="19126" y="0"/>
                </a:lnTo>
                <a:lnTo>
                  <a:pt x="19126" y="54635"/>
                </a:lnTo>
                <a:lnTo>
                  <a:pt x="1251788" y="54635"/>
                </a:lnTo>
                <a:lnTo>
                  <a:pt x="1251788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5698" y="1445381"/>
            <a:ext cx="239340" cy="23934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30240" y="1445381"/>
            <a:ext cx="239340" cy="23934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41156" y="1445381"/>
            <a:ext cx="239340" cy="23934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96615" y="1445381"/>
            <a:ext cx="226225" cy="23934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30240" y="1800839"/>
            <a:ext cx="239340" cy="23934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41156" y="1800839"/>
            <a:ext cx="239340" cy="23934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85698" y="1800839"/>
            <a:ext cx="239340" cy="23934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96615" y="1800839"/>
            <a:ext cx="226225" cy="23934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130240" y="2156297"/>
            <a:ext cx="239340" cy="23934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485698" y="2156297"/>
            <a:ext cx="239340" cy="23934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841156" y="2156297"/>
            <a:ext cx="239340" cy="23934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96615" y="2156297"/>
            <a:ext cx="226225" cy="23934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30240" y="2511755"/>
            <a:ext cx="239340" cy="23934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485698" y="2511755"/>
            <a:ext cx="239340" cy="23934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841156" y="2511755"/>
            <a:ext cx="239340" cy="239340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96615" y="2511755"/>
            <a:ext cx="226225" cy="23934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130240" y="2867213"/>
            <a:ext cx="239340" cy="23934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841156" y="2867213"/>
            <a:ext cx="239340" cy="23934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485698" y="2867213"/>
            <a:ext cx="239340" cy="239340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196615" y="2867213"/>
            <a:ext cx="226225" cy="23934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130241" y="3222671"/>
            <a:ext cx="239340" cy="22649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485699" y="3222671"/>
            <a:ext cx="239340" cy="226498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841157" y="3222671"/>
            <a:ext cx="239340" cy="226498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196615" y="3222671"/>
            <a:ext cx="226225" cy="226498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16819830" y="8049793"/>
            <a:ext cx="1468755" cy="2237740"/>
          </a:xfrm>
          <a:custGeom>
            <a:avLst/>
            <a:gdLst/>
            <a:ahLst/>
            <a:cxnLst/>
            <a:rect l="l" t="t" r="r" b="b"/>
            <a:pathLst>
              <a:path w="1468755" h="2237740">
                <a:moveTo>
                  <a:pt x="1468158" y="1765414"/>
                </a:moveTo>
                <a:lnTo>
                  <a:pt x="1457490" y="1749628"/>
                </a:lnTo>
                <a:lnTo>
                  <a:pt x="1127772" y="2237206"/>
                </a:lnTo>
                <a:lnTo>
                  <a:pt x="1468158" y="2237206"/>
                </a:lnTo>
                <a:lnTo>
                  <a:pt x="1468158" y="1765414"/>
                </a:lnTo>
                <a:close/>
              </a:path>
              <a:path w="1468755" h="2237740">
                <a:moveTo>
                  <a:pt x="1468170" y="0"/>
                </a:moveTo>
                <a:lnTo>
                  <a:pt x="0" y="2237206"/>
                </a:lnTo>
                <a:lnTo>
                  <a:pt x="51714" y="2237206"/>
                </a:lnTo>
                <a:lnTo>
                  <a:pt x="1468170" y="78816"/>
                </a:lnTo>
                <a:lnTo>
                  <a:pt x="1468170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15355278" y="8282825"/>
            <a:ext cx="2933065" cy="2004060"/>
          </a:xfrm>
          <a:custGeom>
            <a:avLst/>
            <a:gdLst/>
            <a:ahLst/>
            <a:cxnLst/>
            <a:rect l="l" t="t" r="r" b="b"/>
            <a:pathLst>
              <a:path w="2933065" h="2004059">
                <a:moveTo>
                  <a:pt x="745020" y="0"/>
                </a:moveTo>
                <a:lnTo>
                  <a:pt x="0" y="0"/>
                </a:lnTo>
                <a:lnTo>
                  <a:pt x="0" y="43180"/>
                </a:lnTo>
                <a:lnTo>
                  <a:pt x="0" y="2004060"/>
                </a:lnTo>
                <a:lnTo>
                  <a:pt x="43294" y="2004060"/>
                </a:lnTo>
                <a:lnTo>
                  <a:pt x="43294" y="43180"/>
                </a:lnTo>
                <a:lnTo>
                  <a:pt x="745020" y="43180"/>
                </a:lnTo>
                <a:lnTo>
                  <a:pt x="745020" y="0"/>
                </a:lnTo>
                <a:close/>
              </a:path>
              <a:path w="2933065" h="2004059">
                <a:moveTo>
                  <a:pt x="2932709" y="308610"/>
                </a:moveTo>
                <a:lnTo>
                  <a:pt x="426529" y="308610"/>
                </a:lnTo>
                <a:lnTo>
                  <a:pt x="426529" y="351790"/>
                </a:lnTo>
                <a:lnTo>
                  <a:pt x="426529" y="2004060"/>
                </a:lnTo>
                <a:lnTo>
                  <a:pt x="469823" y="2004060"/>
                </a:lnTo>
                <a:lnTo>
                  <a:pt x="469823" y="351790"/>
                </a:lnTo>
                <a:lnTo>
                  <a:pt x="2932709" y="351790"/>
                </a:lnTo>
                <a:lnTo>
                  <a:pt x="2932709" y="30861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10966477" y="8738242"/>
            <a:ext cx="2033270" cy="1548765"/>
          </a:xfrm>
          <a:custGeom>
            <a:avLst/>
            <a:gdLst/>
            <a:ahLst/>
            <a:cxnLst/>
            <a:rect l="l" t="t" r="r" b="b"/>
            <a:pathLst>
              <a:path w="2033270" h="1548765">
                <a:moveTo>
                  <a:pt x="1981369" y="1548757"/>
                </a:moveTo>
                <a:lnTo>
                  <a:pt x="2033081" y="1548757"/>
                </a:lnTo>
                <a:lnTo>
                  <a:pt x="1016713" y="0"/>
                </a:lnTo>
                <a:lnTo>
                  <a:pt x="1016428" y="0"/>
                </a:lnTo>
                <a:lnTo>
                  <a:pt x="964848" y="78593"/>
                </a:lnTo>
                <a:lnTo>
                  <a:pt x="1016570" y="78593"/>
                </a:lnTo>
                <a:lnTo>
                  <a:pt x="1981369" y="1548757"/>
                </a:lnTo>
                <a:close/>
              </a:path>
              <a:path w="2033270" h="1548765">
                <a:moveTo>
                  <a:pt x="0" y="1548757"/>
                </a:moveTo>
                <a:lnTo>
                  <a:pt x="51772" y="1548757"/>
                </a:lnTo>
                <a:lnTo>
                  <a:pt x="1016570" y="78593"/>
                </a:lnTo>
                <a:lnTo>
                  <a:pt x="964848" y="78593"/>
                </a:lnTo>
                <a:lnTo>
                  <a:pt x="0" y="1548757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11436566" y="8971279"/>
            <a:ext cx="3479800" cy="1316355"/>
          </a:xfrm>
          <a:custGeom>
            <a:avLst/>
            <a:gdLst/>
            <a:ahLst/>
            <a:cxnLst/>
            <a:rect l="l" t="t" r="r" b="b"/>
            <a:pathLst>
              <a:path w="3479800" h="1316354">
                <a:moveTo>
                  <a:pt x="3052813" y="308610"/>
                </a:moveTo>
                <a:lnTo>
                  <a:pt x="0" y="308610"/>
                </a:lnTo>
                <a:lnTo>
                  <a:pt x="0" y="351548"/>
                </a:lnTo>
                <a:lnTo>
                  <a:pt x="0" y="351790"/>
                </a:lnTo>
                <a:lnTo>
                  <a:pt x="0" y="1315732"/>
                </a:lnTo>
                <a:lnTo>
                  <a:pt x="43307" y="1315732"/>
                </a:lnTo>
                <a:lnTo>
                  <a:pt x="43307" y="351790"/>
                </a:lnTo>
                <a:lnTo>
                  <a:pt x="3009506" y="351790"/>
                </a:lnTo>
                <a:lnTo>
                  <a:pt x="3009506" y="1315720"/>
                </a:lnTo>
                <a:lnTo>
                  <a:pt x="3052813" y="1315720"/>
                </a:lnTo>
                <a:lnTo>
                  <a:pt x="3052813" y="351790"/>
                </a:lnTo>
                <a:lnTo>
                  <a:pt x="3052813" y="308610"/>
                </a:lnTo>
                <a:close/>
              </a:path>
              <a:path w="3479800" h="1316354">
                <a:moveTo>
                  <a:pt x="3479342" y="0"/>
                </a:moveTo>
                <a:lnTo>
                  <a:pt x="2734322" y="0"/>
                </a:lnTo>
                <a:lnTo>
                  <a:pt x="2734322" y="43180"/>
                </a:lnTo>
                <a:lnTo>
                  <a:pt x="3436035" y="43180"/>
                </a:lnTo>
                <a:lnTo>
                  <a:pt x="3436035" y="1315720"/>
                </a:lnTo>
                <a:lnTo>
                  <a:pt x="3479342" y="1315720"/>
                </a:lnTo>
                <a:lnTo>
                  <a:pt x="3479342" y="43180"/>
                </a:lnTo>
                <a:lnTo>
                  <a:pt x="347934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53049" y="1448152"/>
            <a:ext cx="5596255" cy="777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0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97475"/>
            <a:ext cx="3537585" cy="5389880"/>
          </a:xfrm>
          <a:custGeom>
            <a:avLst/>
            <a:gdLst/>
            <a:ahLst/>
            <a:cxnLst/>
            <a:rect l="l" t="t" r="r" b="b"/>
            <a:pathLst>
              <a:path w="3537585" h="5389880">
                <a:moveTo>
                  <a:pt x="2450655" y="5389537"/>
                </a:moveTo>
                <a:lnTo>
                  <a:pt x="0" y="1765414"/>
                </a:lnTo>
                <a:lnTo>
                  <a:pt x="0" y="5389537"/>
                </a:lnTo>
                <a:lnTo>
                  <a:pt x="2450655" y="5389537"/>
                </a:lnTo>
                <a:close/>
              </a:path>
              <a:path w="3537585" h="5389880">
                <a:moveTo>
                  <a:pt x="3537356" y="5389537"/>
                </a:moveTo>
                <a:lnTo>
                  <a:pt x="51866" y="78587"/>
                </a:lnTo>
                <a:lnTo>
                  <a:pt x="279" y="0"/>
                </a:lnTo>
                <a:lnTo>
                  <a:pt x="0" y="0"/>
                </a:lnTo>
                <a:lnTo>
                  <a:pt x="0" y="78816"/>
                </a:lnTo>
                <a:lnTo>
                  <a:pt x="139" y="78587"/>
                </a:lnTo>
                <a:lnTo>
                  <a:pt x="3485464" y="5389537"/>
                </a:lnTo>
                <a:lnTo>
                  <a:pt x="3537356" y="5389537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5439104"/>
            <a:ext cx="546735" cy="2787650"/>
          </a:xfrm>
          <a:custGeom>
            <a:avLst/>
            <a:gdLst/>
            <a:ahLst/>
            <a:cxnLst/>
            <a:rect l="l" t="t" r="r" b="b"/>
            <a:pathLst>
              <a:path w="546735" h="2787650">
                <a:moveTo>
                  <a:pt x="531456" y="2744152"/>
                </a:moveTo>
                <a:lnTo>
                  <a:pt x="0" y="2744152"/>
                </a:lnTo>
                <a:lnTo>
                  <a:pt x="0" y="2787446"/>
                </a:lnTo>
                <a:lnTo>
                  <a:pt x="531456" y="2787446"/>
                </a:lnTo>
                <a:lnTo>
                  <a:pt x="531456" y="2744152"/>
                </a:lnTo>
                <a:close/>
              </a:path>
              <a:path w="546735" h="2787650">
                <a:moveTo>
                  <a:pt x="546620" y="0"/>
                </a:moveTo>
                <a:lnTo>
                  <a:pt x="0" y="0"/>
                </a:lnTo>
                <a:lnTo>
                  <a:pt x="0" y="43180"/>
                </a:lnTo>
                <a:lnTo>
                  <a:pt x="503313" y="43180"/>
                </a:lnTo>
                <a:lnTo>
                  <a:pt x="503313" y="2402840"/>
                </a:lnTo>
                <a:lnTo>
                  <a:pt x="0" y="2402840"/>
                </a:lnTo>
                <a:lnTo>
                  <a:pt x="0" y="2446020"/>
                </a:lnTo>
                <a:lnTo>
                  <a:pt x="546620" y="2446020"/>
                </a:lnTo>
                <a:lnTo>
                  <a:pt x="546620" y="2402840"/>
                </a:lnTo>
                <a:lnTo>
                  <a:pt x="546620" y="43180"/>
                </a:lnTo>
                <a:lnTo>
                  <a:pt x="546620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47617" y="3617552"/>
            <a:ext cx="5304155" cy="526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Relationship Id="rId23" Type="http://schemas.openxmlformats.org/officeDocument/2006/relationships/image" Target="../media/image17.png"/><Relationship Id="rId24" Type="http://schemas.openxmlformats.org/officeDocument/2006/relationships/image" Target="../media/image18.png"/><Relationship Id="rId25" Type="http://schemas.openxmlformats.org/officeDocument/2006/relationships/image" Target="../media/image19.png"/><Relationship Id="rId26" Type="http://schemas.openxmlformats.org/officeDocument/2006/relationships/image" Target="../media/image20.png"/><Relationship Id="rId27" Type="http://schemas.openxmlformats.org/officeDocument/2006/relationships/image" Target="../media/image21.png"/><Relationship Id="rId28" Type="http://schemas.openxmlformats.org/officeDocument/2006/relationships/image" Target="../media/image22.png"/><Relationship Id="rId29" Type="http://schemas.openxmlformats.org/officeDocument/2006/relationships/image" Target="../media/image23.png"/><Relationship Id="rId30" Type="http://schemas.openxmlformats.org/officeDocument/2006/relationships/image" Target="../media/image24.png"/><Relationship Id="rId31" Type="http://schemas.openxmlformats.org/officeDocument/2006/relationships/image" Target="../media/image25.png"/><Relationship Id="rId32" Type="http://schemas.openxmlformats.org/officeDocument/2006/relationships/image" Target="../media/image26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97475"/>
            <a:ext cx="3537585" cy="5389880"/>
          </a:xfrm>
          <a:custGeom>
            <a:avLst/>
            <a:gdLst/>
            <a:ahLst/>
            <a:cxnLst/>
            <a:rect l="l" t="t" r="r" b="b"/>
            <a:pathLst>
              <a:path w="3537585" h="5389880">
                <a:moveTo>
                  <a:pt x="2450655" y="5389537"/>
                </a:moveTo>
                <a:lnTo>
                  <a:pt x="0" y="1765414"/>
                </a:lnTo>
                <a:lnTo>
                  <a:pt x="0" y="5389537"/>
                </a:lnTo>
                <a:lnTo>
                  <a:pt x="2450655" y="5389537"/>
                </a:lnTo>
                <a:close/>
              </a:path>
              <a:path w="3537585" h="5389880">
                <a:moveTo>
                  <a:pt x="3537356" y="5389537"/>
                </a:moveTo>
                <a:lnTo>
                  <a:pt x="51866" y="78587"/>
                </a:lnTo>
                <a:lnTo>
                  <a:pt x="279" y="0"/>
                </a:lnTo>
                <a:lnTo>
                  <a:pt x="0" y="0"/>
                </a:lnTo>
                <a:lnTo>
                  <a:pt x="0" y="78816"/>
                </a:lnTo>
                <a:lnTo>
                  <a:pt x="139" y="78587"/>
                </a:lnTo>
                <a:lnTo>
                  <a:pt x="3485464" y="5389537"/>
                </a:lnTo>
                <a:lnTo>
                  <a:pt x="3537356" y="5389537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5439104"/>
            <a:ext cx="546735" cy="2787650"/>
          </a:xfrm>
          <a:custGeom>
            <a:avLst/>
            <a:gdLst/>
            <a:ahLst/>
            <a:cxnLst/>
            <a:rect l="l" t="t" r="r" b="b"/>
            <a:pathLst>
              <a:path w="546735" h="2787650">
                <a:moveTo>
                  <a:pt x="531456" y="2744152"/>
                </a:moveTo>
                <a:lnTo>
                  <a:pt x="0" y="2744152"/>
                </a:lnTo>
                <a:lnTo>
                  <a:pt x="0" y="2787446"/>
                </a:lnTo>
                <a:lnTo>
                  <a:pt x="531456" y="2787446"/>
                </a:lnTo>
                <a:lnTo>
                  <a:pt x="531456" y="2744152"/>
                </a:lnTo>
                <a:close/>
              </a:path>
              <a:path w="546735" h="2787650">
                <a:moveTo>
                  <a:pt x="546620" y="0"/>
                </a:moveTo>
                <a:lnTo>
                  <a:pt x="0" y="0"/>
                </a:lnTo>
                <a:lnTo>
                  <a:pt x="0" y="43180"/>
                </a:lnTo>
                <a:lnTo>
                  <a:pt x="503313" y="43180"/>
                </a:lnTo>
                <a:lnTo>
                  <a:pt x="503313" y="2402840"/>
                </a:lnTo>
                <a:lnTo>
                  <a:pt x="0" y="2402840"/>
                </a:lnTo>
                <a:lnTo>
                  <a:pt x="0" y="2446020"/>
                </a:lnTo>
                <a:lnTo>
                  <a:pt x="546620" y="2446020"/>
                </a:lnTo>
                <a:lnTo>
                  <a:pt x="546620" y="2402840"/>
                </a:lnTo>
                <a:lnTo>
                  <a:pt x="546620" y="43180"/>
                </a:lnTo>
                <a:lnTo>
                  <a:pt x="546620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85662" y="9834362"/>
            <a:ext cx="189664" cy="18966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7344" y="9834362"/>
            <a:ext cx="189664" cy="18966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03981" y="9834362"/>
            <a:ext cx="189664" cy="18966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2692" y="9834362"/>
            <a:ext cx="179271" cy="18966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67344" y="9552681"/>
            <a:ext cx="189664" cy="18966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85662" y="9552681"/>
            <a:ext cx="189664" cy="18966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03981" y="9552681"/>
            <a:ext cx="189664" cy="18966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2692" y="9552681"/>
            <a:ext cx="179271" cy="18966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67344" y="9270999"/>
            <a:ext cx="189664" cy="18966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85662" y="9270999"/>
            <a:ext cx="189664" cy="18966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03981" y="9270999"/>
            <a:ext cx="189664" cy="18966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32692" y="9271000"/>
            <a:ext cx="179271" cy="18966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7344" y="8989317"/>
            <a:ext cx="189664" cy="18966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85662" y="8989317"/>
            <a:ext cx="189664" cy="18966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03981" y="8989317"/>
            <a:ext cx="189664" cy="18966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2692" y="8989317"/>
            <a:ext cx="179271" cy="18966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85662" y="8707636"/>
            <a:ext cx="189664" cy="189664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7344" y="8707636"/>
            <a:ext cx="189664" cy="189664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03981" y="8707636"/>
            <a:ext cx="189664" cy="18966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2692" y="8707637"/>
            <a:ext cx="179271" cy="18966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67344" y="8436131"/>
            <a:ext cx="189664" cy="1794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85663" y="8436131"/>
            <a:ext cx="189664" cy="179488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32692" y="8436131"/>
            <a:ext cx="179271" cy="179488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03981" y="8436131"/>
            <a:ext cx="189664" cy="179488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14741994" y="0"/>
            <a:ext cx="3546475" cy="5402580"/>
          </a:xfrm>
          <a:custGeom>
            <a:avLst/>
            <a:gdLst/>
            <a:ahLst/>
            <a:cxnLst/>
            <a:rect l="l" t="t" r="r" b="b"/>
            <a:pathLst>
              <a:path w="3546475" h="5402580">
                <a:moveTo>
                  <a:pt x="3545903" y="5323598"/>
                </a:moveTo>
                <a:lnTo>
                  <a:pt x="3545713" y="5323878"/>
                </a:lnTo>
                <a:lnTo>
                  <a:pt x="51904" y="0"/>
                </a:lnTo>
                <a:lnTo>
                  <a:pt x="0" y="0"/>
                </a:lnTo>
                <a:lnTo>
                  <a:pt x="3493986" y="5323878"/>
                </a:lnTo>
                <a:lnTo>
                  <a:pt x="3545573" y="5402478"/>
                </a:lnTo>
                <a:lnTo>
                  <a:pt x="3545903" y="5402478"/>
                </a:lnTo>
                <a:lnTo>
                  <a:pt x="3545903" y="5323598"/>
                </a:lnTo>
                <a:close/>
              </a:path>
              <a:path w="3546475" h="5402580">
                <a:moveTo>
                  <a:pt x="3546005" y="0"/>
                </a:moveTo>
                <a:lnTo>
                  <a:pt x="1086446" y="0"/>
                </a:lnTo>
                <a:lnTo>
                  <a:pt x="3546005" y="3637267"/>
                </a:lnTo>
                <a:lnTo>
                  <a:pt x="3546005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17741226" y="2073401"/>
            <a:ext cx="547370" cy="2787650"/>
          </a:xfrm>
          <a:custGeom>
            <a:avLst/>
            <a:gdLst/>
            <a:ahLst/>
            <a:cxnLst/>
            <a:rect l="l" t="t" r="r" b="b"/>
            <a:pathLst>
              <a:path w="547369" h="2787650">
                <a:moveTo>
                  <a:pt x="546773" y="341414"/>
                </a:moveTo>
                <a:lnTo>
                  <a:pt x="0" y="341414"/>
                </a:lnTo>
                <a:lnTo>
                  <a:pt x="0" y="384594"/>
                </a:lnTo>
                <a:lnTo>
                  <a:pt x="0" y="2744254"/>
                </a:lnTo>
                <a:lnTo>
                  <a:pt x="0" y="2787434"/>
                </a:lnTo>
                <a:lnTo>
                  <a:pt x="546773" y="2787434"/>
                </a:lnTo>
                <a:lnTo>
                  <a:pt x="546773" y="2744254"/>
                </a:lnTo>
                <a:lnTo>
                  <a:pt x="43307" y="2744254"/>
                </a:lnTo>
                <a:lnTo>
                  <a:pt x="43307" y="384594"/>
                </a:lnTo>
                <a:lnTo>
                  <a:pt x="546773" y="384594"/>
                </a:lnTo>
                <a:lnTo>
                  <a:pt x="546773" y="341414"/>
                </a:lnTo>
                <a:close/>
              </a:path>
              <a:path w="547369" h="2787650">
                <a:moveTo>
                  <a:pt x="546773" y="0"/>
                </a:moveTo>
                <a:lnTo>
                  <a:pt x="15163" y="0"/>
                </a:lnTo>
                <a:lnTo>
                  <a:pt x="15163" y="43294"/>
                </a:lnTo>
                <a:lnTo>
                  <a:pt x="546773" y="43294"/>
                </a:lnTo>
                <a:lnTo>
                  <a:pt x="546773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bg 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230851" y="275911"/>
            <a:ext cx="189664" cy="189664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512532" y="275911"/>
            <a:ext cx="189664" cy="189664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794214" y="275911"/>
            <a:ext cx="189664" cy="189664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230851" y="557592"/>
            <a:ext cx="189664" cy="189664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075897" y="275910"/>
            <a:ext cx="179271" cy="189664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512532" y="557592"/>
            <a:ext cx="189664" cy="189664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794214" y="557592"/>
            <a:ext cx="189664" cy="189664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075897" y="557592"/>
            <a:ext cx="179271" cy="189664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230851" y="839273"/>
            <a:ext cx="189664" cy="189664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512532" y="839273"/>
            <a:ext cx="189664" cy="189664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794214" y="839273"/>
            <a:ext cx="189664" cy="189664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075897" y="839273"/>
            <a:ext cx="179271" cy="189664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230851" y="1120955"/>
            <a:ext cx="189664" cy="189664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512532" y="1120955"/>
            <a:ext cx="189664" cy="189664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794214" y="1120955"/>
            <a:ext cx="189664" cy="189664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075897" y="1120955"/>
            <a:ext cx="179271" cy="189664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512532" y="1402636"/>
            <a:ext cx="189664" cy="189664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230851" y="1402636"/>
            <a:ext cx="189664" cy="189664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794214" y="1402636"/>
            <a:ext cx="189664" cy="189664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075897" y="1402636"/>
            <a:ext cx="179271" cy="189664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6230852" y="1684318"/>
            <a:ext cx="189664" cy="179488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512533" y="1684318"/>
            <a:ext cx="189664" cy="179488"/>
          </a:xfrm>
          <a:prstGeom prst="rect">
            <a:avLst/>
          </a:prstGeom>
        </p:spPr>
      </p:pic>
      <p:pic>
        <p:nvPicPr>
          <p:cNvPr id="66" name="bg object 6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6794215" y="1684318"/>
            <a:ext cx="189664" cy="179488"/>
          </a:xfrm>
          <a:prstGeom prst="rect">
            <a:avLst/>
          </a:prstGeom>
        </p:spPr>
      </p:pic>
      <p:pic>
        <p:nvPicPr>
          <p:cNvPr id="67" name="bg object 6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7075897" y="1684318"/>
            <a:ext cx="179271" cy="1794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12922" y="1807686"/>
            <a:ext cx="4862195" cy="1155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63056" y="3504430"/>
            <a:ext cx="8561886" cy="2165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nalyticshamza/Financial-Fraud-Detection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29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60.png"/><Relationship Id="rId21" Type="http://schemas.openxmlformats.org/officeDocument/2006/relationships/image" Target="../media/image6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4.png"/><Relationship Id="rId6" Type="http://schemas.openxmlformats.org/officeDocument/2006/relationships/image" Target="../media/image5.png"/><Relationship Id="rId7" Type="http://schemas.openxmlformats.org/officeDocument/2006/relationships/image" Target="../media/image65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66.png"/><Relationship Id="rId19" Type="http://schemas.openxmlformats.org/officeDocument/2006/relationships/image" Target="../media/image18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jpg"/><Relationship Id="rId3" Type="http://schemas.openxmlformats.org/officeDocument/2006/relationships/image" Target="../media/image7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4.jpg"/><Relationship Id="rId3" Type="http://schemas.openxmlformats.org/officeDocument/2006/relationships/image" Target="../media/image7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9.png"/><Relationship Id="rId6" Type="http://schemas.openxmlformats.org/officeDocument/2006/relationships/image" Target="../media/image5.png"/><Relationship Id="rId7" Type="http://schemas.openxmlformats.org/officeDocument/2006/relationships/image" Target="../media/image80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81.png"/><Relationship Id="rId19" Type="http://schemas.openxmlformats.org/officeDocument/2006/relationships/image" Target="../media/image18.png"/><Relationship Id="rId20" Type="http://schemas.openxmlformats.org/officeDocument/2006/relationships/image" Target="../media/image82.png"/><Relationship Id="rId21" Type="http://schemas.openxmlformats.org/officeDocument/2006/relationships/image" Target="../media/image83.png"/><Relationship Id="rId22" Type="http://schemas.openxmlformats.org/officeDocument/2006/relationships/image" Target="../media/image84.png"/><Relationship Id="rId23" Type="http://schemas.openxmlformats.org/officeDocument/2006/relationships/image" Target="../media/image85.png"/><Relationship Id="rId24" Type="http://schemas.openxmlformats.org/officeDocument/2006/relationships/image" Target="../media/image86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4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355281" y="5926169"/>
            <a:ext cx="2933065" cy="4361180"/>
            <a:chOff x="15355281" y="5926169"/>
            <a:chExt cx="2933065" cy="4361180"/>
          </a:xfrm>
        </p:grpSpPr>
        <p:sp>
          <p:nvSpPr>
            <p:cNvPr id="3" name="object 3" descr=""/>
            <p:cNvSpPr/>
            <p:nvPr/>
          </p:nvSpPr>
          <p:spPr>
            <a:xfrm>
              <a:off x="15426207" y="5926175"/>
              <a:ext cx="2861945" cy="4361180"/>
            </a:xfrm>
            <a:custGeom>
              <a:avLst/>
              <a:gdLst/>
              <a:ahLst/>
              <a:cxnLst/>
              <a:rect l="l" t="t" r="r" b="b"/>
              <a:pathLst>
                <a:path w="2861944" h="4361180">
                  <a:moveTo>
                    <a:pt x="2861780" y="1765414"/>
                  </a:moveTo>
                  <a:lnTo>
                    <a:pt x="2851112" y="1749628"/>
                  </a:lnTo>
                  <a:lnTo>
                    <a:pt x="1085380" y="4360837"/>
                  </a:lnTo>
                  <a:lnTo>
                    <a:pt x="2861780" y="4360837"/>
                  </a:lnTo>
                  <a:lnTo>
                    <a:pt x="2861780" y="1765414"/>
                  </a:lnTo>
                  <a:close/>
                </a:path>
                <a:path w="2861944" h="4361180">
                  <a:moveTo>
                    <a:pt x="2861792" y="0"/>
                  </a:moveTo>
                  <a:lnTo>
                    <a:pt x="0" y="4360837"/>
                  </a:lnTo>
                  <a:lnTo>
                    <a:pt x="51701" y="4360837"/>
                  </a:lnTo>
                  <a:lnTo>
                    <a:pt x="2861792" y="78816"/>
                  </a:lnTo>
                  <a:lnTo>
                    <a:pt x="2861792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355278" y="6159194"/>
              <a:ext cx="2933065" cy="3096260"/>
            </a:xfrm>
            <a:custGeom>
              <a:avLst/>
              <a:gdLst/>
              <a:ahLst/>
              <a:cxnLst/>
              <a:rect l="l" t="t" r="r" b="b"/>
              <a:pathLst>
                <a:path w="2933065" h="3096259">
                  <a:moveTo>
                    <a:pt x="2932709" y="3053080"/>
                  </a:moveTo>
                  <a:lnTo>
                    <a:pt x="43294" y="3053080"/>
                  </a:lnTo>
                  <a:lnTo>
                    <a:pt x="43294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932709" y="3096260"/>
                  </a:lnTo>
                  <a:lnTo>
                    <a:pt x="2932709" y="3053080"/>
                  </a:lnTo>
                  <a:close/>
                </a:path>
                <a:path w="2933065" h="3096259">
                  <a:moveTo>
                    <a:pt x="2932709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932709" y="2754630"/>
                  </a:lnTo>
                  <a:lnTo>
                    <a:pt x="2932709" y="2711450"/>
                  </a:lnTo>
                  <a:lnTo>
                    <a:pt x="469823" y="2711450"/>
                  </a:lnTo>
                  <a:lnTo>
                    <a:pt x="469823" y="351790"/>
                  </a:lnTo>
                  <a:lnTo>
                    <a:pt x="2932709" y="351790"/>
                  </a:lnTo>
                  <a:lnTo>
                    <a:pt x="2932709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-99" y="0"/>
            <a:ext cx="2933065" cy="4153535"/>
            <a:chOff x="-99" y="0"/>
            <a:chExt cx="2933065" cy="4153535"/>
          </a:xfrm>
        </p:grpSpPr>
        <p:sp>
          <p:nvSpPr>
            <p:cNvPr id="6" name="object 6" descr=""/>
            <p:cNvSpPr/>
            <p:nvPr/>
          </p:nvSpPr>
          <p:spPr>
            <a:xfrm>
              <a:off x="-88" y="0"/>
              <a:ext cx="2726055" cy="4153535"/>
            </a:xfrm>
            <a:custGeom>
              <a:avLst/>
              <a:gdLst/>
              <a:ahLst/>
              <a:cxnLst/>
              <a:rect l="l" t="t" r="r" b="b"/>
              <a:pathLst>
                <a:path w="2726055" h="4153535">
                  <a:moveTo>
                    <a:pt x="1635925" y="0"/>
                  </a:moveTo>
                  <a:lnTo>
                    <a:pt x="88" y="0"/>
                  </a:lnTo>
                  <a:lnTo>
                    <a:pt x="88" y="2387955"/>
                  </a:lnTo>
                  <a:lnTo>
                    <a:pt x="10617" y="2403538"/>
                  </a:lnTo>
                  <a:lnTo>
                    <a:pt x="1635925" y="0"/>
                  </a:lnTo>
                  <a:close/>
                </a:path>
                <a:path w="2726055" h="4153535">
                  <a:moveTo>
                    <a:pt x="2725445" y="0"/>
                  </a:moveTo>
                  <a:lnTo>
                    <a:pt x="2673743" y="0"/>
                  </a:lnTo>
                  <a:lnTo>
                    <a:pt x="88" y="4073995"/>
                  </a:lnTo>
                  <a:lnTo>
                    <a:pt x="0" y="4153103"/>
                  </a:lnTo>
                  <a:lnTo>
                    <a:pt x="272544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823886"/>
              <a:ext cx="2933065" cy="3096260"/>
            </a:xfrm>
            <a:custGeom>
              <a:avLst/>
              <a:gdLst/>
              <a:ahLst/>
              <a:cxnLst/>
              <a:rect l="l" t="t" r="r" b="b"/>
              <a:pathLst>
                <a:path w="2933065" h="3096260">
                  <a:moveTo>
                    <a:pt x="2506053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462746" y="384810"/>
                  </a:lnTo>
                  <a:lnTo>
                    <a:pt x="2462746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506053" y="2787650"/>
                  </a:lnTo>
                  <a:lnTo>
                    <a:pt x="2506053" y="2744470"/>
                  </a:lnTo>
                  <a:lnTo>
                    <a:pt x="2506053" y="384810"/>
                  </a:lnTo>
                  <a:lnTo>
                    <a:pt x="2506053" y="341630"/>
                  </a:lnTo>
                  <a:close/>
                </a:path>
                <a:path w="2933065" h="3096260">
                  <a:moveTo>
                    <a:pt x="2932569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2889275" y="43180"/>
                  </a:lnTo>
                  <a:lnTo>
                    <a:pt x="2889275" y="3053080"/>
                  </a:lnTo>
                  <a:lnTo>
                    <a:pt x="2187562" y="3053080"/>
                  </a:lnTo>
                  <a:lnTo>
                    <a:pt x="2187562" y="3096260"/>
                  </a:lnTo>
                  <a:lnTo>
                    <a:pt x="2932569" y="3096260"/>
                  </a:lnTo>
                  <a:lnTo>
                    <a:pt x="2932569" y="3053080"/>
                  </a:lnTo>
                  <a:lnTo>
                    <a:pt x="2932569" y="43180"/>
                  </a:lnTo>
                  <a:lnTo>
                    <a:pt x="2932569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86077" y="6029732"/>
            <a:ext cx="49161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45">
                <a:latin typeface="Tahoma"/>
                <a:cs typeface="Tahoma"/>
              </a:rPr>
              <a:t>By</a:t>
            </a:r>
            <a:r>
              <a:rPr dirty="0" sz="4800" spc="-775">
                <a:latin typeface="Tahoma"/>
                <a:cs typeface="Tahoma"/>
              </a:rPr>
              <a:t> </a:t>
            </a:r>
            <a:r>
              <a:rPr dirty="0" sz="4800" spc="-130">
                <a:latin typeface="Tahoma"/>
                <a:cs typeface="Tahoma"/>
              </a:rPr>
              <a:t>Ali</a:t>
            </a:r>
            <a:r>
              <a:rPr dirty="0" sz="4800" spc="-775">
                <a:latin typeface="Tahoma"/>
                <a:cs typeface="Tahoma"/>
              </a:rPr>
              <a:t> </a:t>
            </a:r>
            <a:r>
              <a:rPr dirty="0" sz="4800" spc="-155">
                <a:latin typeface="Tahoma"/>
                <a:cs typeface="Tahoma"/>
              </a:rPr>
              <a:t>Hamza</a:t>
            </a:r>
            <a:r>
              <a:rPr dirty="0" sz="4800" spc="-770">
                <a:latin typeface="Tahoma"/>
                <a:cs typeface="Tahoma"/>
              </a:rPr>
              <a:t> </a:t>
            </a:r>
            <a:r>
              <a:rPr dirty="0" sz="4800" spc="-165">
                <a:latin typeface="Tahoma"/>
                <a:cs typeface="Tahoma"/>
              </a:rPr>
              <a:t>Shaikh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69240" y="8673439"/>
            <a:ext cx="10149840" cy="4991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100" spc="-85"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https://github.com/analyticshamza/Financial-</a:t>
            </a:r>
            <a:r>
              <a:rPr dirty="0" u="heavy" sz="3100" spc="-80"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Fraud-</a:t>
            </a:r>
            <a:r>
              <a:rPr dirty="0" u="heavy" sz="31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Detection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10" name="object 10" descr="">
            <a:hlinkClick r:id="rId2"/>
          </p:cNvPr>
          <p:cNvSpPr/>
          <p:nvPr/>
        </p:nvSpPr>
        <p:spPr>
          <a:xfrm>
            <a:off x="4875938" y="4459343"/>
            <a:ext cx="8536305" cy="85725"/>
          </a:xfrm>
          <a:custGeom>
            <a:avLst/>
            <a:gdLst/>
            <a:ahLst/>
            <a:cxnLst/>
            <a:rect l="l" t="t" r="r" b="b"/>
            <a:pathLst>
              <a:path w="8536305" h="85725">
                <a:moveTo>
                  <a:pt x="8535887" y="85724"/>
                </a:moveTo>
                <a:lnTo>
                  <a:pt x="0" y="85724"/>
                </a:lnTo>
                <a:lnTo>
                  <a:pt x="0" y="0"/>
                </a:lnTo>
                <a:lnTo>
                  <a:pt x="8535887" y="0"/>
                </a:lnTo>
                <a:lnTo>
                  <a:pt x="8535887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>
            <a:hlinkClick r:id="rId2"/>
          </p:cNvPr>
          <p:cNvSpPr/>
          <p:nvPr/>
        </p:nvSpPr>
        <p:spPr>
          <a:xfrm>
            <a:off x="6525846" y="5526143"/>
            <a:ext cx="5236845" cy="85725"/>
          </a:xfrm>
          <a:custGeom>
            <a:avLst/>
            <a:gdLst/>
            <a:ahLst/>
            <a:cxnLst/>
            <a:rect l="l" t="t" r="r" b="b"/>
            <a:pathLst>
              <a:path w="5236845" h="85725">
                <a:moveTo>
                  <a:pt x="5236219" y="85724"/>
                </a:moveTo>
                <a:lnTo>
                  <a:pt x="0" y="85724"/>
                </a:lnTo>
                <a:lnTo>
                  <a:pt x="0" y="0"/>
                </a:lnTo>
                <a:lnTo>
                  <a:pt x="5236219" y="0"/>
                </a:lnTo>
                <a:lnTo>
                  <a:pt x="5236219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662430" marR="5080" indent="-1650364">
              <a:lnSpc>
                <a:spcPts val="8400"/>
              </a:lnSpc>
              <a:spcBef>
                <a:spcPts val="250"/>
              </a:spcBef>
            </a:pPr>
            <a:r>
              <a:rPr dirty="0" spc="605">
                <a:hlinkClick r:id="rId2"/>
              </a:rPr>
              <a:t>FINANCIAL</a:t>
            </a:r>
            <a:r>
              <a:rPr dirty="0" spc="-180">
                <a:hlinkClick r:id="rId2"/>
              </a:rPr>
              <a:t> </a:t>
            </a:r>
            <a:r>
              <a:rPr dirty="0" spc="515">
                <a:hlinkClick r:id="rId2"/>
              </a:rPr>
              <a:t>FRAUD</a:t>
            </a:r>
            <a:r>
              <a:rPr dirty="0" spc="515"/>
              <a:t> </a:t>
            </a:r>
            <a:r>
              <a:rPr dirty="0" spc="415">
                <a:hlinkClick r:id="rId2"/>
              </a:rPr>
              <a:t>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" name="object 6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9" name="object 9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3947460"/>
            <a:ext cx="85725" cy="857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313977" y="3585611"/>
            <a:ext cx="5967730" cy="3340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99745">
              <a:lnSpc>
                <a:spcPct val="116900"/>
              </a:lnSpc>
              <a:spcBef>
                <a:spcPts val="95"/>
              </a:spcBef>
            </a:pPr>
            <a:r>
              <a:rPr dirty="0" sz="3100" spc="-20">
                <a:latin typeface="Tahoma"/>
                <a:cs typeface="Tahoma"/>
              </a:rPr>
              <a:t>Rise</a:t>
            </a:r>
            <a:r>
              <a:rPr dirty="0" sz="3100" spc="-480">
                <a:latin typeface="Tahoma"/>
                <a:cs typeface="Tahoma"/>
              </a:rPr>
              <a:t> </a:t>
            </a:r>
            <a:r>
              <a:rPr dirty="0" sz="3100" spc="-165">
                <a:latin typeface="Tahoma"/>
                <a:cs typeface="Tahoma"/>
              </a:rPr>
              <a:t>in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65">
                <a:latin typeface="Tahoma"/>
                <a:cs typeface="Tahoma"/>
              </a:rPr>
              <a:t>digital</a:t>
            </a:r>
            <a:r>
              <a:rPr dirty="0" sz="3100" spc="-480">
                <a:latin typeface="Tahoma"/>
                <a:cs typeface="Tahoma"/>
              </a:rPr>
              <a:t> </a:t>
            </a:r>
            <a:r>
              <a:rPr dirty="0" sz="3100" spc="-85">
                <a:latin typeface="Tahoma"/>
                <a:cs typeface="Tahoma"/>
              </a:rPr>
              <a:t>payments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increases </a:t>
            </a:r>
            <a:r>
              <a:rPr dirty="0" sz="3100" spc="-55">
                <a:latin typeface="Tahoma"/>
                <a:cs typeface="Tahoma"/>
              </a:rPr>
              <a:t>fraud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20">
                <a:latin typeface="Tahoma"/>
                <a:cs typeface="Tahoma"/>
              </a:rPr>
              <a:t>risk</a:t>
            </a:r>
            <a:endParaRPr sz="3100">
              <a:latin typeface="Tahoma"/>
              <a:cs typeface="Tahoma"/>
            </a:endParaRPr>
          </a:p>
          <a:p>
            <a:pPr marL="12700" marR="5080">
              <a:lnSpc>
                <a:spcPct val="116900"/>
              </a:lnSpc>
            </a:pPr>
            <a:r>
              <a:rPr dirty="0" sz="3100" spc="-90">
                <a:latin typeface="Tahoma"/>
                <a:cs typeface="Tahoma"/>
              </a:rPr>
              <a:t>Financial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95">
                <a:latin typeface="Tahoma"/>
                <a:cs typeface="Tahoma"/>
              </a:rPr>
              <a:t>institutions</a:t>
            </a:r>
            <a:r>
              <a:rPr dirty="0" sz="3100" spc="-445">
                <a:latin typeface="Tahoma"/>
                <a:cs typeface="Tahoma"/>
              </a:rPr>
              <a:t> </a:t>
            </a:r>
            <a:r>
              <a:rPr dirty="0" sz="3100" spc="-110">
                <a:latin typeface="Tahoma"/>
                <a:cs typeface="Tahoma"/>
              </a:rPr>
              <a:t>need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40">
                <a:latin typeface="Tahoma"/>
                <a:cs typeface="Tahoma"/>
              </a:rPr>
              <a:t>early</a:t>
            </a:r>
            <a:r>
              <a:rPr dirty="0" sz="3100" spc="-44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fraud detection</a:t>
            </a:r>
            <a:endParaRPr sz="3100">
              <a:latin typeface="Tahoma"/>
              <a:cs typeface="Tahoma"/>
            </a:endParaRPr>
          </a:p>
          <a:p>
            <a:pPr marL="12700" marR="344805">
              <a:lnSpc>
                <a:spcPct val="116900"/>
              </a:lnSpc>
            </a:pPr>
            <a:r>
              <a:rPr dirty="0" sz="3100" spc="-114">
                <a:latin typeface="Tahoma"/>
                <a:cs typeface="Tahoma"/>
              </a:rPr>
              <a:t>Manual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130">
                <a:latin typeface="Tahoma"/>
                <a:cs typeface="Tahoma"/>
              </a:rPr>
              <a:t>monitoring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>
                <a:latin typeface="Tahoma"/>
                <a:cs typeface="Tahoma"/>
              </a:rPr>
              <a:t>is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70">
                <a:latin typeface="Tahoma"/>
                <a:cs typeface="Tahoma"/>
              </a:rPr>
              <a:t>inefficient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60">
                <a:latin typeface="Tahoma"/>
                <a:cs typeface="Tahoma"/>
              </a:rPr>
              <a:t>and </a:t>
            </a:r>
            <a:r>
              <a:rPr dirty="0" sz="3100" spc="-10">
                <a:latin typeface="Tahoma"/>
                <a:cs typeface="Tahoma"/>
              </a:rPr>
              <a:t>costly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052360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6157259"/>
            <a:ext cx="85725" cy="8572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322070" marR="5080" indent="-29209">
              <a:lnSpc>
                <a:spcPct val="100000"/>
              </a:lnSpc>
              <a:spcBef>
                <a:spcPts val="110"/>
              </a:spcBef>
            </a:pPr>
            <a:r>
              <a:rPr dirty="0" sz="3700" spc="365"/>
              <a:t>BUSINESS </a:t>
            </a:r>
            <a:r>
              <a:rPr dirty="0" sz="3700" spc="330"/>
              <a:t>PROBLEM</a:t>
            </a:r>
            <a:endParaRPr sz="3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" name="object 6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9" name="object 9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3947460"/>
            <a:ext cx="85725" cy="857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313977" y="3585611"/>
            <a:ext cx="6034405" cy="2787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89915">
              <a:lnSpc>
                <a:spcPct val="116900"/>
              </a:lnSpc>
              <a:spcBef>
                <a:spcPts val="95"/>
              </a:spcBef>
            </a:pPr>
            <a:r>
              <a:rPr dirty="0" sz="3100" spc="-95">
                <a:latin typeface="Tahoma"/>
                <a:cs typeface="Tahoma"/>
              </a:rPr>
              <a:t>Identify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90">
                <a:latin typeface="Tahoma"/>
                <a:cs typeface="Tahoma"/>
              </a:rPr>
              <a:t>fraudulent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110">
                <a:latin typeface="Tahoma"/>
                <a:cs typeface="Tahoma"/>
              </a:rPr>
              <a:t>and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35">
                <a:latin typeface="Tahoma"/>
                <a:cs typeface="Tahoma"/>
              </a:rPr>
              <a:t>suspicious </a:t>
            </a:r>
            <a:r>
              <a:rPr dirty="0" sz="3100" spc="-10">
                <a:latin typeface="Tahoma"/>
                <a:cs typeface="Tahoma"/>
              </a:rPr>
              <a:t>transactions</a:t>
            </a:r>
            <a:endParaRPr sz="3100">
              <a:latin typeface="Tahoma"/>
              <a:cs typeface="Tahoma"/>
            </a:endParaRPr>
          </a:p>
          <a:p>
            <a:pPr marL="12700" marR="998855">
              <a:lnSpc>
                <a:spcPct val="116900"/>
              </a:lnSpc>
            </a:pPr>
            <a:r>
              <a:rPr dirty="0" sz="3100" spc="-25">
                <a:latin typeface="Tahoma"/>
                <a:cs typeface="Tahoma"/>
              </a:rPr>
              <a:t>Analyze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75">
                <a:latin typeface="Tahoma"/>
                <a:cs typeface="Tahoma"/>
              </a:rPr>
              <a:t>spending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40">
                <a:latin typeface="Tahoma"/>
                <a:cs typeface="Tahoma"/>
              </a:rPr>
              <a:t>patterns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50">
                <a:latin typeface="Tahoma"/>
                <a:cs typeface="Tahoma"/>
              </a:rPr>
              <a:t>and </a:t>
            </a:r>
            <a:r>
              <a:rPr dirty="0" sz="3100" spc="-10">
                <a:latin typeface="Tahoma"/>
                <a:cs typeface="Tahoma"/>
              </a:rPr>
              <a:t>anomalies</a:t>
            </a:r>
            <a:endParaRPr sz="3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100" spc="-80">
                <a:latin typeface="Tahoma"/>
                <a:cs typeface="Tahoma"/>
              </a:rPr>
              <a:t>Support</a:t>
            </a:r>
            <a:r>
              <a:rPr dirty="0" sz="3100" spc="-459">
                <a:latin typeface="Tahoma"/>
                <a:cs typeface="Tahoma"/>
              </a:rPr>
              <a:t> </a:t>
            </a:r>
            <a:r>
              <a:rPr dirty="0" sz="3100" spc="-40">
                <a:latin typeface="Tahoma"/>
                <a:cs typeface="Tahoma"/>
              </a:rPr>
              <a:t>data-</a:t>
            </a:r>
            <a:r>
              <a:rPr dirty="0" sz="3100" spc="-65">
                <a:latin typeface="Tahoma"/>
                <a:cs typeface="Tahoma"/>
              </a:rPr>
              <a:t>driven</a:t>
            </a:r>
            <a:r>
              <a:rPr dirty="0" sz="3100" spc="-455">
                <a:latin typeface="Tahoma"/>
                <a:cs typeface="Tahoma"/>
              </a:rPr>
              <a:t> </a:t>
            </a:r>
            <a:r>
              <a:rPr dirty="0" sz="3100" spc="-55">
                <a:latin typeface="Tahoma"/>
                <a:cs typeface="Tahoma"/>
              </a:rPr>
              <a:t>fraud</a:t>
            </a:r>
            <a:r>
              <a:rPr dirty="0" sz="3100" spc="-455">
                <a:latin typeface="Tahoma"/>
                <a:cs typeface="Tahoma"/>
              </a:rPr>
              <a:t> </a:t>
            </a:r>
            <a:r>
              <a:rPr dirty="0" sz="3100" spc="-100">
                <a:latin typeface="Tahoma"/>
                <a:cs typeface="Tahoma"/>
              </a:rPr>
              <a:t>monitoring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052360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6157259"/>
            <a:ext cx="85725" cy="8572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554" rIns="0" bIns="0" rtlCol="0" vert="horz">
            <a:spAutoFit/>
          </a:bodyPr>
          <a:lstStyle/>
          <a:p>
            <a:pPr marL="1285875" marR="5080" indent="207010">
              <a:lnSpc>
                <a:spcPct val="100000"/>
              </a:lnSpc>
              <a:spcBef>
                <a:spcPts val="120"/>
              </a:spcBef>
            </a:pPr>
            <a:r>
              <a:rPr dirty="0" sz="3400" spc="204"/>
              <a:t>PROJECT </a:t>
            </a:r>
            <a:r>
              <a:rPr dirty="0" sz="3400" spc="190"/>
              <a:t>OBJECTIVE</a:t>
            </a:r>
            <a:endParaRPr sz="3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" name="object 6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9" name="object 9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3947460"/>
            <a:ext cx="85725" cy="857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313977" y="3585611"/>
            <a:ext cx="5866765" cy="2787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5"/>
              </a:spcBef>
            </a:pPr>
            <a:r>
              <a:rPr dirty="0" sz="3100" spc="-45">
                <a:latin typeface="Tahoma"/>
                <a:cs typeface="Tahoma"/>
              </a:rPr>
              <a:t>Transaction</a:t>
            </a:r>
            <a:r>
              <a:rPr dirty="0" sz="3100" spc="-445">
                <a:latin typeface="Tahoma"/>
                <a:cs typeface="Tahoma"/>
              </a:rPr>
              <a:t> </a:t>
            </a:r>
            <a:r>
              <a:rPr dirty="0" sz="3100" spc="-50">
                <a:latin typeface="Tahoma"/>
                <a:cs typeface="Tahoma"/>
              </a:rPr>
              <a:t>data</a:t>
            </a:r>
            <a:r>
              <a:rPr dirty="0" sz="3100" spc="-445">
                <a:latin typeface="Tahoma"/>
                <a:cs typeface="Tahoma"/>
              </a:rPr>
              <a:t> </a:t>
            </a:r>
            <a:r>
              <a:rPr dirty="0" sz="3100" spc="-225">
                <a:latin typeface="Tahoma"/>
                <a:cs typeface="Tahoma"/>
              </a:rPr>
              <a:t>(amount,</a:t>
            </a:r>
            <a:r>
              <a:rPr dirty="0" sz="3100" spc="-445">
                <a:latin typeface="Tahoma"/>
                <a:cs typeface="Tahoma"/>
              </a:rPr>
              <a:t> </a:t>
            </a:r>
            <a:r>
              <a:rPr dirty="0" sz="3100" spc="-35">
                <a:latin typeface="Tahoma"/>
                <a:cs typeface="Tahoma"/>
              </a:rPr>
              <a:t>category, </a:t>
            </a:r>
            <a:r>
              <a:rPr dirty="0" sz="3100" spc="-100">
                <a:latin typeface="Tahoma"/>
                <a:cs typeface="Tahoma"/>
              </a:rPr>
              <a:t>gender,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20">
                <a:latin typeface="Tahoma"/>
                <a:cs typeface="Tahoma"/>
              </a:rPr>
              <a:t>time)</a:t>
            </a:r>
            <a:endParaRPr sz="3100">
              <a:latin typeface="Tahoma"/>
              <a:cs typeface="Tahoma"/>
            </a:endParaRPr>
          </a:p>
          <a:p>
            <a:pPr marL="12700" marR="496570">
              <a:lnSpc>
                <a:spcPct val="116900"/>
              </a:lnSpc>
            </a:pPr>
            <a:r>
              <a:rPr dirty="0" sz="3100" spc="-75">
                <a:latin typeface="Tahoma"/>
                <a:cs typeface="Tahoma"/>
              </a:rPr>
              <a:t>Location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50">
                <a:latin typeface="Tahoma"/>
                <a:cs typeface="Tahoma"/>
              </a:rPr>
              <a:t>data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150">
                <a:latin typeface="Tahoma"/>
                <a:cs typeface="Tahoma"/>
              </a:rPr>
              <a:t>(city,</a:t>
            </a:r>
            <a:r>
              <a:rPr dirty="0" sz="3100" spc="-459">
                <a:latin typeface="Tahoma"/>
                <a:cs typeface="Tahoma"/>
              </a:rPr>
              <a:t> </a:t>
            </a:r>
            <a:r>
              <a:rPr dirty="0" sz="3100" spc="-75">
                <a:latin typeface="Tahoma"/>
                <a:cs typeface="Tahoma"/>
              </a:rPr>
              <a:t>state,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100">
                <a:latin typeface="Tahoma"/>
                <a:cs typeface="Tahoma"/>
              </a:rPr>
              <a:t>latitude, </a:t>
            </a:r>
            <a:r>
              <a:rPr dirty="0" sz="3100" spc="-35">
                <a:latin typeface="Tahoma"/>
                <a:cs typeface="Tahoma"/>
              </a:rPr>
              <a:t>longitude)</a:t>
            </a:r>
            <a:endParaRPr sz="3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100">
                <a:latin typeface="Tahoma"/>
                <a:cs typeface="Tahoma"/>
              </a:rPr>
              <a:t>Target</a:t>
            </a:r>
            <a:r>
              <a:rPr dirty="0" sz="3100" spc="-455">
                <a:latin typeface="Tahoma"/>
                <a:cs typeface="Tahoma"/>
              </a:rPr>
              <a:t> </a:t>
            </a:r>
            <a:r>
              <a:rPr dirty="0" sz="3100" spc="-95">
                <a:latin typeface="Tahoma"/>
                <a:cs typeface="Tahoma"/>
              </a:rPr>
              <a:t>variable: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85">
                <a:latin typeface="Tahoma"/>
                <a:cs typeface="Tahoma"/>
              </a:rPr>
              <a:t>Fraud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305">
                <a:latin typeface="Tahoma"/>
                <a:cs typeface="Tahoma"/>
              </a:rPr>
              <a:t>/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145">
                <a:latin typeface="Tahoma"/>
                <a:cs typeface="Tahoma"/>
              </a:rPr>
              <a:t>Non-</a:t>
            </a:r>
            <a:r>
              <a:rPr dirty="0" sz="3100" spc="-10">
                <a:latin typeface="Tahoma"/>
                <a:cs typeface="Tahoma"/>
              </a:rPr>
              <a:t>Fraud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052360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6157259"/>
            <a:ext cx="85725" cy="8572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151255" marR="5080" indent="234950">
              <a:lnSpc>
                <a:spcPct val="100000"/>
              </a:lnSpc>
              <a:spcBef>
                <a:spcPts val="110"/>
              </a:spcBef>
            </a:pPr>
            <a:r>
              <a:rPr dirty="0" sz="3700" spc="270"/>
              <a:t>DATASET </a:t>
            </a:r>
            <a:r>
              <a:rPr dirty="0" sz="3700" spc="395"/>
              <a:t>OVERVIEW</a:t>
            </a:r>
            <a:endParaRPr sz="3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" name="object 6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9" name="object 9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3947460"/>
            <a:ext cx="85725" cy="857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313977" y="3585611"/>
            <a:ext cx="4077970" cy="2235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5"/>
              </a:spcBef>
            </a:pPr>
            <a:r>
              <a:rPr dirty="0" sz="3100" spc="-105">
                <a:latin typeface="Tahoma"/>
                <a:cs typeface="Tahoma"/>
              </a:rPr>
              <a:t>Excel:</a:t>
            </a:r>
            <a:r>
              <a:rPr dirty="0" sz="3100" spc="-480">
                <a:latin typeface="Tahoma"/>
                <a:cs typeface="Tahoma"/>
              </a:rPr>
              <a:t> </a:t>
            </a:r>
            <a:r>
              <a:rPr dirty="0" sz="3100" spc="-120">
                <a:latin typeface="Tahoma"/>
                <a:cs typeface="Tahoma"/>
              </a:rPr>
              <a:t>Initial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exploration </a:t>
            </a:r>
            <a:r>
              <a:rPr dirty="0" sz="3100" spc="-50">
                <a:latin typeface="Tahoma"/>
                <a:cs typeface="Tahoma"/>
              </a:rPr>
              <a:t>SQL: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40">
                <a:latin typeface="Tahoma"/>
                <a:cs typeface="Tahoma"/>
              </a:rPr>
              <a:t>Structured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analysis </a:t>
            </a:r>
            <a:r>
              <a:rPr dirty="0" sz="3100" spc="-190">
                <a:latin typeface="Tahoma"/>
                <a:cs typeface="Tahoma"/>
              </a:rPr>
              <a:t>Python: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25">
                <a:latin typeface="Tahoma"/>
                <a:cs typeface="Tahoma"/>
              </a:rPr>
              <a:t>EDA</a:t>
            </a:r>
            <a:endParaRPr sz="3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100" spc="-130">
                <a:latin typeface="Tahoma"/>
                <a:cs typeface="Tahoma"/>
              </a:rPr>
              <a:t>Tableau: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Visualization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4499910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052360"/>
            <a:ext cx="85725" cy="857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604809"/>
            <a:ext cx="85725" cy="8572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05" rIns="0" bIns="0" rtlCol="0" vert="horz">
            <a:spAutoFit/>
          </a:bodyPr>
          <a:lstStyle/>
          <a:p>
            <a:pPr marL="887730" marR="5080" indent="455295">
              <a:lnSpc>
                <a:spcPts val="4430"/>
              </a:lnSpc>
              <a:spcBef>
                <a:spcPts val="215"/>
              </a:spcBef>
            </a:pPr>
            <a:r>
              <a:rPr dirty="0" sz="3700" spc="360"/>
              <a:t>TOOLS</a:t>
            </a:r>
            <a:r>
              <a:rPr dirty="0" sz="3700" spc="-100"/>
              <a:t> </a:t>
            </a:r>
            <a:r>
              <a:rPr dirty="0" sz="3700" spc="420"/>
              <a:t>&amp; </a:t>
            </a:r>
            <a:r>
              <a:rPr dirty="0" sz="3700" spc="480"/>
              <a:t>WORKFLOW</a:t>
            </a:r>
            <a:endParaRPr sz="3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84923" y="0"/>
            <a:ext cx="5203190" cy="7915275"/>
            <a:chOff x="13084923" y="0"/>
            <a:chExt cx="5203190" cy="7915275"/>
          </a:xfrm>
        </p:grpSpPr>
        <p:sp>
          <p:nvSpPr>
            <p:cNvPr id="3" name="object 3" descr=""/>
            <p:cNvSpPr/>
            <p:nvPr/>
          </p:nvSpPr>
          <p:spPr>
            <a:xfrm>
              <a:off x="13084912" y="11"/>
              <a:ext cx="5203190" cy="7915275"/>
            </a:xfrm>
            <a:custGeom>
              <a:avLst/>
              <a:gdLst/>
              <a:ahLst/>
              <a:cxnLst/>
              <a:rect l="l" t="t" r="r" b="b"/>
              <a:pathLst>
                <a:path w="5203190" h="7915275">
                  <a:moveTo>
                    <a:pt x="5203088" y="0"/>
                  </a:moveTo>
                  <a:lnTo>
                    <a:pt x="795578" y="0"/>
                  </a:lnTo>
                  <a:lnTo>
                    <a:pt x="1365935" y="843470"/>
                  </a:lnTo>
                  <a:lnTo>
                    <a:pt x="0" y="843470"/>
                  </a:lnTo>
                  <a:lnTo>
                    <a:pt x="4575632" y="7815478"/>
                  </a:lnTo>
                  <a:lnTo>
                    <a:pt x="4640719" y="7914653"/>
                  </a:lnTo>
                  <a:lnTo>
                    <a:pt x="4641088" y="7914653"/>
                  </a:lnTo>
                  <a:lnTo>
                    <a:pt x="5203088" y="7058279"/>
                  </a:lnTo>
                  <a:lnTo>
                    <a:pt x="5203088" y="6958825"/>
                  </a:lnTo>
                  <a:lnTo>
                    <a:pt x="4640897" y="7815478"/>
                  </a:lnTo>
                  <a:lnTo>
                    <a:pt x="101371" y="898118"/>
                  </a:lnTo>
                  <a:lnTo>
                    <a:pt x="1402892" y="898118"/>
                  </a:lnTo>
                  <a:lnTo>
                    <a:pt x="4654562" y="5706770"/>
                  </a:lnTo>
                  <a:lnTo>
                    <a:pt x="5203088" y="4895608"/>
                  </a:lnTo>
                  <a:lnTo>
                    <a:pt x="5203088" y="898118"/>
                  </a:lnTo>
                  <a:lnTo>
                    <a:pt x="5203088" y="843470"/>
                  </a:lnTo>
                  <a:lnTo>
                    <a:pt x="5203088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036213" y="3713657"/>
              <a:ext cx="1252220" cy="3517900"/>
            </a:xfrm>
            <a:custGeom>
              <a:avLst/>
              <a:gdLst/>
              <a:ahLst/>
              <a:cxnLst/>
              <a:rect l="l" t="t" r="r" b="b"/>
              <a:pathLst>
                <a:path w="1252219" h="3517900">
                  <a:moveTo>
                    <a:pt x="1251788" y="430174"/>
                  </a:moveTo>
                  <a:lnTo>
                    <a:pt x="0" y="430174"/>
                  </a:lnTo>
                  <a:lnTo>
                    <a:pt x="0" y="484784"/>
                  </a:lnTo>
                  <a:lnTo>
                    <a:pt x="0" y="3462934"/>
                  </a:lnTo>
                  <a:lnTo>
                    <a:pt x="0" y="3517544"/>
                  </a:lnTo>
                  <a:lnTo>
                    <a:pt x="1251788" y="3517544"/>
                  </a:lnTo>
                  <a:lnTo>
                    <a:pt x="1251788" y="3462934"/>
                  </a:lnTo>
                  <a:lnTo>
                    <a:pt x="54648" y="3462934"/>
                  </a:lnTo>
                  <a:lnTo>
                    <a:pt x="54648" y="484784"/>
                  </a:lnTo>
                  <a:lnTo>
                    <a:pt x="1251788" y="484784"/>
                  </a:lnTo>
                  <a:lnTo>
                    <a:pt x="1251788" y="430174"/>
                  </a:lnTo>
                  <a:close/>
                </a:path>
                <a:path w="1252219" h="3517900">
                  <a:moveTo>
                    <a:pt x="1251788" y="0"/>
                  </a:moveTo>
                  <a:lnTo>
                    <a:pt x="19126" y="0"/>
                  </a:lnTo>
                  <a:lnTo>
                    <a:pt x="19126" y="54635"/>
                  </a:lnTo>
                  <a:lnTo>
                    <a:pt x="1251788" y="54635"/>
                  </a:lnTo>
                  <a:lnTo>
                    <a:pt x="1251788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85698" y="1445381"/>
              <a:ext cx="239340" cy="23934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30240" y="1445381"/>
              <a:ext cx="239340" cy="23934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41156" y="1445381"/>
              <a:ext cx="239340" cy="23934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96615" y="1445381"/>
              <a:ext cx="226225" cy="23934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30240" y="1800839"/>
              <a:ext cx="239340" cy="23934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41156" y="1800839"/>
              <a:ext cx="239340" cy="23934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85698" y="1800839"/>
              <a:ext cx="239340" cy="23934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196615" y="1800839"/>
              <a:ext cx="226225" cy="23934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30240" y="2156297"/>
              <a:ext cx="239340" cy="23934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85698" y="2156297"/>
              <a:ext cx="239340" cy="23934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841156" y="2156297"/>
              <a:ext cx="239340" cy="23934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196615" y="2156297"/>
              <a:ext cx="226225" cy="23934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30240" y="2511755"/>
              <a:ext cx="239340" cy="23934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85698" y="2511755"/>
              <a:ext cx="239340" cy="23934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41156" y="2511755"/>
              <a:ext cx="239340" cy="23934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96615" y="2511755"/>
              <a:ext cx="226225" cy="23934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30240" y="2867213"/>
              <a:ext cx="239340" cy="23934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841156" y="2867213"/>
              <a:ext cx="239340" cy="23934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85698" y="2867213"/>
              <a:ext cx="239340" cy="23934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196615" y="2867213"/>
              <a:ext cx="226225" cy="23934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130241" y="3222671"/>
              <a:ext cx="239340" cy="22649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485699" y="3222671"/>
              <a:ext cx="239340" cy="22649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841157" y="3222671"/>
              <a:ext cx="239340" cy="22649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196615" y="3222671"/>
              <a:ext cx="226225" cy="226498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5355281" y="8049789"/>
            <a:ext cx="2933065" cy="2237740"/>
            <a:chOff x="15355281" y="8049789"/>
            <a:chExt cx="2933065" cy="2237740"/>
          </a:xfrm>
        </p:grpSpPr>
        <p:sp>
          <p:nvSpPr>
            <p:cNvPr id="30" name="object 30" descr=""/>
            <p:cNvSpPr/>
            <p:nvPr/>
          </p:nvSpPr>
          <p:spPr>
            <a:xfrm>
              <a:off x="16819829" y="8049792"/>
              <a:ext cx="1468755" cy="2237740"/>
            </a:xfrm>
            <a:custGeom>
              <a:avLst/>
              <a:gdLst/>
              <a:ahLst/>
              <a:cxnLst/>
              <a:rect l="l" t="t" r="r" b="b"/>
              <a:pathLst>
                <a:path w="1468755" h="2237740">
                  <a:moveTo>
                    <a:pt x="1468158" y="1765414"/>
                  </a:moveTo>
                  <a:lnTo>
                    <a:pt x="1457490" y="1749628"/>
                  </a:lnTo>
                  <a:lnTo>
                    <a:pt x="1127772" y="2237206"/>
                  </a:lnTo>
                  <a:lnTo>
                    <a:pt x="1468158" y="2237206"/>
                  </a:lnTo>
                  <a:lnTo>
                    <a:pt x="1468158" y="1765414"/>
                  </a:lnTo>
                  <a:close/>
                </a:path>
                <a:path w="1468755" h="2237740">
                  <a:moveTo>
                    <a:pt x="1468170" y="0"/>
                  </a:moveTo>
                  <a:lnTo>
                    <a:pt x="0" y="2237206"/>
                  </a:lnTo>
                  <a:lnTo>
                    <a:pt x="51714" y="2237206"/>
                  </a:lnTo>
                  <a:lnTo>
                    <a:pt x="1468170" y="78816"/>
                  </a:lnTo>
                  <a:lnTo>
                    <a:pt x="1468170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355278" y="8282825"/>
              <a:ext cx="2933065" cy="2004060"/>
            </a:xfrm>
            <a:custGeom>
              <a:avLst/>
              <a:gdLst/>
              <a:ahLst/>
              <a:cxnLst/>
              <a:rect l="l" t="t" r="r" b="b"/>
              <a:pathLst>
                <a:path w="2933065" h="2004059">
                  <a:moveTo>
                    <a:pt x="74502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2004060"/>
                  </a:lnTo>
                  <a:lnTo>
                    <a:pt x="43294" y="2004060"/>
                  </a:lnTo>
                  <a:lnTo>
                    <a:pt x="43294" y="43180"/>
                  </a:lnTo>
                  <a:lnTo>
                    <a:pt x="745020" y="43180"/>
                  </a:lnTo>
                  <a:lnTo>
                    <a:pt x="745020" y="0"/>
                  </a:lnTo>
                  <a:close/>
                </a:path>
                <a:path w="2933065" h="2004059">
                  <a:moveTo>
                    <a:pt x="2932709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004060"/>
                  </a:lnTo>
                  <a:lnTo>
                    <a:pt x="469823" y="2004060"/>
                  </a:lnTo>
                  <a:lnTo>
                    <a:pt x="469823" y="351790"/>
                  </a:lnTo>
                  <a:lnTo>
                    <a:pt x="2932709" y="351790"/>
                  </a:lnTo>
                  <a:lnTo>
                    <a:pt x="2932709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10966477" y="8738242"/>
            <a:ext cx="3949700" cy="1548765"/>
            <a:chOff x="10966477" y="8738242"/>
            <a:chExt cx="3949700" cy="1548765"/>
          </a:xfrm>
        </p:grpSpPr>
        <p:sp>
          <p:nvSpPr>
            <p:cNvPr id="33" name="object 33" descr=""/>
            <p:cNvSpPr/>
            <p:nvPr/>
          </p:nvSpPr>
          <p:spPr>
            <a:xfrm>
              <a:off x="10966477" y="8738242"/>
              <a:ext cx="2033270" cy="1548765"/>
            </a:xfrm>
            <a:custGeom>
              <a:avLst/>
              <a:gdLst/>
              <a:ahLst/>
              <a:cxnLst/>
              <a:rect l="l" t="t" r="r" b="b"/>
              <a:pathLst>
                <a:path w="2033270" h="1548765">
                  <a:moveTo>
                    <a:pt x="1981369" y="1548757"/>
                  </a:moveTo>
                  <a:lnTo>
                    <a:pt x="2033081" y="1548757"/>
                  </a:lnTo>
                  <a:lnTo>
                    <a:pt x="1016713" y="0"/>
                  </a:lnTo>
                  <a:lnTo>
                    <a:pt x="1016428" y="0"/>
                  </a:lnTo>
                  <a:lnTo>
                    <a:pt x="964848" y="78593"/>
                  </a:lnTo>
                  <a:lnTo>
                    <a:pt x="1016570" y="78593"/>
                  </a:lnTo>
                  <a:lnTo>
                    <a:pt x="1981369" y="1548757"/>
                  </a:lnTo>
                  <a:close/>
                </a:path>
                <a:path w="2033270" h="1548765">
                  <a:moveTo>
                    <a:pt x="0" y="1548757"/>
                  </a:moveTo>
                  <a:lnTo>
                    <a:pt x="51772" y="1548757"/>
                  </a:lnTo>
                  <a:lnTo>
                    <a:pt x="1016570" y="78593"/>
                  </a:lnTo>
                  <a:lnTo>
                    <a:pt x="964848" y="78593"/>
                  </a:lnTo>
                  <a:lnTo>
                    <a:pt x="0" y="1548757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436566" y="8971279"/>
              <a:ext cx="3479800" cy="1316355"/>
            </a:xfrm>
            <a:custGeom>
              <a:avLst/>
              <a:gdLst/>
              <a:ahLst/>
              <a:cxnLst/>
              <a:rect l="l" t="t" r="r" b="b"/>
              <a:pathLst>
                <a:path w="3479800" h="1316354">
                  <a:moveTo>
                    <a:pt x="3052813" y="308610"/>
                  </a:moveTo>
                  <a:lnTo>
                    <a:pt x="0" y="308610"/>
                  </a:lnTo>
                  <a:lnTo>
                    <a:pt x="0" y="351548"/>
                  </a:lnTo>
                  <a:lnTo>
                    <a:pt x="0" y="351790"/>
                  </a:lnTo>
                  <a:lnTo>
                    <a:pt x="0" y="1315732"/>
                  </a:lnTo>
                  <a:lnTo>
                    <a:pt x="43307" y="1315732"/>
                  </a:lnTo>
                  <a:lnTo>
                    <a:pt x="43307" y="351790"/>
                  </a:lnTo>
                  <a:lnTo>
                    <a:pt x="3009506" y="351790"/>
                  </a:lnTo>
                  <a:lnTo>
                    <a:pt x="3009506" y="1315720"/>
                  </a:lnTo>
                  <a:lnTo>
                    <a:pt x="3052813" y="1315720"/>
                  </a:lnTo>
                  <a:lnTo>
                    <a:pt x="3052813" y="351790"/>
                  </a:lnTo>
                  <a:lnTo>
                    <a:pt x="3052813" y="308610"/>
                  </a:lnTo>
                  <a:close/>
                </a:path>
                <a:path w="3479800" h="1316354">
                  <a:moveTo>
                    <a:pt x="3479342" y="0"/>
                  </a:moveTo>
                  <a:lnTo>
                    <a:pt x="2734322" y="0"/>
                  </a:lnTo>
                  <a:lnTo>
                    <a:pt x="2734322" y="43180"/>
                  </a:lnTo>
                  <a:lnTo>
                    <a:pt x="3436035" y="43180"/>
                  </a:lnTo>
                  <a:lnTo>
                    <a:pt x="3436035" y="1315720"/>
                  </a:lnTo>
                  <a:lnTo>
                    <a:pt x="3479342" y="1315720"/>
                  </a:lnTo>
                  <a:lnTo>
                    <a:pt x="3479342" y="43180"/>
                  </a:lnTo>
                  <a:lnTo>
                    <a:pt x="3479342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028699" y="1028699"/>
            <a:ext cx="6200140" cy="1980564"/>
            <a:chOff x="1028699" y="1028699"/>
            <a:chExt cx="6200140" cy="1980564"/>
          </a:xfrm>
        </p:grpSpPr>
        <p:sp>
          <p:nvSpPr>
            <p:cNvPr id="36" name="object 36" descr=""/>
            <p:cNvSpPr/>
            <p:nvPr/>
          </p:nvSpPr>
          <p:spPr>
            <a:xfrm>
              <a:off x="1028699" y="1028699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5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5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47806" y="2534098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170883" y="1170884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3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182234" y="2467423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916877" y="2891165"/>
            <a:ext cx="8402955" cy="2617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5"/>
              </a:spcBef>
            </a:pPr>
            <a:r>
              <a:rPr dirty="0" sz="3650" spc="-30">
                <a:latin typeface="Tahoma"/>
                <a:cs typeface="Tahoma"/>
              </a:rPr>
              <a:t>Statistical</a:t>
            </a:r>
            <a:r>
              <a:rPr dirty="0" sz="3650" spc="-560">
                <a:latin typeface="Tahoma"/>
                <a:cs typeface="Tahoma"/>
              </a:rPr>
              <a:t> </a:t>
            </a:r>
            <a:r>
              <a:rPr dirty="0" sz="3650" spc="-140">
                <a:latin typeface="Tahoma"/>
                <a:cs typeface="Tahoma"/>
              </a:rPr>
              <a:t>summary</a:t>
            </a:r>
            <a:r>
              <a:rPr dirty="0" sz="3650" spc="-545">
                <a:latin typeface="Tahoma"/>
                <a:cs typeface="Tahoma"/>
              </a:rPr>
              <a:t> </a:t>
            </a:r>
            <a:r>
              <a:rPr dirty="0" sz="3650" spc="-114">
                <a:latin typeface="Tahoma"/>
                <a:cs typeface="Tahoma"/>
              </a:rPr>
              <a:t>of</a:t>
            </a:r>
            <a:r>
              <a:rPr dirty="0" sz="3650" spc="-550">
                <a:latin typeface="Tahoma"/>
                <a:cs typeface="Tahoma"/>
              </a:rPr>
              <a:t> </a:t>
            </a:r>
            <a:r>
              <a:rPr dirty="0" sz="3650" spc="-75">
                <a:latin typeface="Tahoma"/>
                <a:cs typeface="Tahoma"/>
              </a:rPr>
              <a:t>transaction</a:t>
            </a:r>
            <a:r>
              <a:rPr dirty="0" sz="3650" spc="-545">
                <a:latin typeface="Tahoma"/>
                <a:cs typeface="Tahoma"/>
              </a:rPr>
              <a:t> </a:t>
            </a:r>
            <a:r>
              <a:rPr dirty="0" sz="3650" spc="-10">
                <a:latin typeface="Tahoma"/>
                <a:cs typeface="Tahoma"/>
              </a:rPr>
              <a:t>amount </a:t>
            </a:r>
            <a:r>
              <a:rPr dirty="0" sz="3650" spc="-105">
                <a:latin typeface="Tahoma"/>
                <a:cs typeface="Tahoma"/>
              </a:rPr>
              <a:t>Fraud</a:t>
            </a:r>
            <a:r>
              <a:rPr dirty="0" sz="3650" spc="-580">
                <a:latin typeface="Tahoma"/>
                <a:cs typeface="Tahoma"/>
              </a:rPr>
              <a:t> </a:t>
            </a:r>
            <a:r>
              <a:rPr dirty="0" sz="3650" spc="-145">
                <a:latin typeface="Tahoma"/>
                <a:cs typeface="Tahoma"/>
              </a:rPr>
              <a:t>count</a:t>
            </a:r>
            <a:r>
              <a:rPr dirty="0" sz="3650" spc="-575">
                <a:latin typeface="Tahoma"/>
                <a:cs typeface="Tahoma"/>
              </a:rPr>
              <a:t> </a:t>
            </a:r>
            <a:r>
              <a:rPr dirty="0" sz="3650" spc="-110">
                <a:latin typeface="Tahoma"/>
                <a:cs typeface="Tahoma"/>
              </a:rPr>
              <a:t>by</a:t>
            </a:r>
            <a:r>
              <a:rPr dirty="0" sz="3650" spc="-580">
                <a:latin typeface="Tahoma"/>
                <a:cs typeface="Tahoma"/>
              </a:rPr>
              <a:t> </a:t>
            </a:r>
            <a:r>
              <a:rPr dirty="0" sz="3650" spc="-65">
                <a:latin typeface="Tahoma"/>
                <a:cs typeface="Tahoma"/>
              </a:rPr>
              <a:t>gender</a:t>
            </a:r>
            <a:r>
              <a:rPr dirty="0" sz="3650" spc="-575">
                <a:latin typeface="Tahoma"/>
                <a:cs typeface="Tahoma"/>
              </a:rPr>
              <a:t> </a:t>
            </a:r>
            <a:r>
              <a:rPr dirty="0" sz="3650" spc="-145">
                <a:latin typeface="Tahoma"/>
                <a:cs typeface="Tahoma"/>
              </a:rPr>
              <a:t>and</a:t>
            </a:r>
            <a:r>
              <a:rPr dirty="0" sz="3650" spc="-575">
                <a:latin typeface="Tahoma"/>
                <a:cs typeface="Tahoma"/>
              </a:rPr>
              <a:t> </a:t>
            </a:r>
            <a:r>
              <a:rPr dirty="0" sz="3650" spc="-10">
                <a:latin typeface="Tahoma"/>
                <a:cs typeface="Tahoma"/>
              </a:rPr>
              <a:t>category </a:t>
            </a:r>
            <a:r>
              <a:rPr dirty="0" sz="3650" spc="-130">
                <a:latin typeface="Tahoma"/>
                <a:cs typeface="Tahoma"/>
              </a:rPr>
              <a:t>Distribution</a:t>
            </a:r>
            <a:r>
              <a:rPr dirty="0" sz="3650" spc="-545">
                <a:latin typeface="Tahoma"/>
                <a:cs typeface="Tahoma"/>
              </a:rPr>
              <a:t> </a:t>
            </a:r>
            <a:r>
              <a:rPr dirty="0" sz="3650" spc="-50">
                <a:latin typeface="Tahoma"/>
                <a:cs typeface="Tahoma"/>
              </a:rPr>
              <a:t>analysis</a:t>
            </a:r>
            <a:r>
              <a:rPr dirty="0" sz="3650" spc="-540">
                <a:latin typeface="Tahoma"/>
                <a:cs typeface="Tahoma"/>
              </a:rPr>
              <a:t> </a:t>
            </a:r>
            <a:r>
              <a:rPr dirty="0" sz="3650" spc="-80">
                <a:latin typeface="Tahoma"/>
                <a:cs typeface="Tahoma"/>
              </a:rPr>
              <a:t>using</a:t>
            </a:r>
            <a:r>
              <a:rPr dirty="0" sz="3650" spc="-540">
                <a:latin typeface="Tahoma"/>
                <a:cs typeface="Tahoma"/>
              </a:rPr>
              <a:t> </a:t>
            </a:r>
            <a:r>
              <a:rPr dirty="0" sz="3650" spc="-10">
                <a:latin typeface="Tahoma"/>
                <a:cs typeface="Tahoma"/>
              </a:rPr>
              <a:t>histograms </a:t>
            </a:r>
            <a:r>
              <a:rPr dirty="0" sz="3650" spc="-85">
                <a:latin typeface="Tahoma"/>
                <a:cs typeface="Tahoma"/>
              </a:rPr>
              <a:t>Correlation</a:t>
            </a:r>
            <a:r>
              <a:rPr dirty="0" sz="3650" spc="-575">
                <a:latin typeface="Tahoma"/>
                <a:cs typeface="Tahoma"/>
              </a:rPr>
              <a:t> </a:t>
            </a:r>
            <a:r>
              <a:rPr dirty="0" sz="3650" spc="-70">
                <a:latin typeface="Tahoma"/>
                <a:cs typeface="Tahoma"/>
              </a:rPr>
              <a:t>check</a:t>
            </a:r>
            <a:r>
              <a:rPr dirty="0" sz="3650" spc="-570">
                <a:latin typeface="Tahoma"/>
                <a:cs typeface="Tahoma"/>
              </a:rPr>
              <a:t> </a:t>
            </a:r>
            <a:r>
              <a:rPr dirty="0" sz="3650" spc="-250">
                <a:latin typeface="Tahoma"/>
                <a:cs typeface="Tahoma"/>
              </a:rPr>
              <a:t>(amount</a:t>
            </a:r>
            <a:r>
              <a:rPr dirty="0" sz="3650" spc="-575">
                <a:latin typeface="Tahoma"/>
                <a:cs typeface="Tahoma"/>
              </a:rPr>
              <a:t> </a:t>
            </a:r>
            <a:r>
              <a:rPr dirty="0" sz="3650" spc="125">
                <a:latin typeface="Tahoma"/>
                <a:cs typeface="Tahoma"/>
              </a:rPr>
              <a:t>vs</a:t>
            </a:r>
            <a:r>
              <a:rPr dirty="0" sz="3650" spc="-570">
                <a:latin typeface="Tahoma"/>
                <a:cs typeface="Tahoma"/>
              </a:rPr>
              <a:t> </a:t>
            </a:r>
            <a:r>
              <a:rPr dirty="0" sz="3650" spc="-35">
                <a:latin typeface="Tahoma"/>
                <a:cs typeface="Tahoma"/>
              </a:rPr>
              <a:t>city</a:t>
            </a:r>
            <a:r>
              <a:rPr dirty="0" sz="3650" spc="-570">
                <a:latin typeface="Tahoma"/>
                <a:cs typeface="Tahoma"/>
              </a:rPr>
              <a:t> </a:t>
            </a:r>
            <a:r>
              <a:rPr dirty="0" sz="3650" spc="-155">
                <a:latin typeface="Tahoma"/>
                <a:cs typeface="Tahoma"/>
              </a:rPr>
              <a:t>population)</a:t>
            </a:r>
            <a:endParaRPr sz="3650">
              <a:latin typeface="Tahoma"/>
              <a:cs typeface="Tahoma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51158" y="3313374"/>
            <a:ext cx="100545" cy="100545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51158" y="3961332"/>
            <a:ext cx="100545" cy="100545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51158" y="4609291"/>
            <a:ext cx="100545" cy="100545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51158" y="5257249"/>
            <a:ext cx="100545" cy="100545"/>
          </a:xfrm>
          <a:prstGeom prst="rect">
            <a:avLst/>
          </a:prstGeom>
        </p:spPr>
      </p:pic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1353049" y="1448152"/>
            <a:ext cx="5596255" cy="7772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365"/>
              <a:t>EXCEL</a:t>
            </a:r>
            <a:r>
              <a:rPr dirty="0" spc="-135"/>
              <a:t> </a:t>
            </a:r>
            <a:r>
              <a:rPr dirty="0" spc="570"/>
              <a:t>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9919" y="3657769"/>
            <a:ext cx="6000749" cy="555307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028699" y="1028699"/>
            <a:ext cx="6200140" cy="1980564"/>
            <a:chOff x="1028699" y="1028699"/>
            <a:chExt cx="6200140" cy="1980564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1028699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5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5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47806" y="2534098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70883" y="1170884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3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182234" y="2467423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124560" y="2979823"/>
            <a:ext cx="6863715" cy="58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-105">
                <a:latin typeface="Tahoma"/>
                <a:cs typeface="Tahoma"/>
              </a:rPr>
              <a:t>Fraud</a:t>
            </a:r>
            <a:r>
              <a:rPr dirty="0" sz="3650" spc="-580">
                <a:latin typeface="Tahoma"/>
                <a:cs typeface="Tahoma"/>
              </a:rPr>
              <a:t> </a:t>
            </a:r>
            <a:r>
              <a:rPr dirty="0" sz="3650" spc="-145">
                <a:latin typeface="Tahoma"/>
                <a:cs typeface="Tahoma"/>
              </a:rPr>
              <a:t>count</a:t>
            </a:r>
            <a:r>
              <a:rPr dirty="0" sz="3650" spc="-575">
                <a:latin typeface="Tahoma"/>
                <a:cs typeface="Tahoma"/>
              </a:rPr>
              <a:t> </a:t>
            </a:r>
            <a:r>
              <a:rPr dirty="0" sz="3650" spc="-110">
                <a:latin typeface="Tahoma"/>
                <a:cs typeface="Tahoma"/>
              </a:rPr>
              <a:t>by</a:t>
            </a:r>
            <a:r>
              <a:rPr dirty="0" sz="3650" spc="-580">
                <a:latin typeface="Tahoma"/>
                <a:cs typeface="Tahoma"/>
              </a:rPr>
              <a:t> </a:t>
            </a:r>
            <a:r>
              <a:rPr dirty="0" sz="3650" spc="-65">
                <a:latin typeface="Tahoma"/>
                <a:cs typeface="Tahoma"/>
              </a:rPr>
              <a:t>gender</a:t>
            </a:r>
            <a:r>
              <a:rPr dirty="0" sz="3650" spc="-575">
                <a:latin typeface="Tahoma"/>
                <a:cs typeface="Tahoma"/>
              </a:rPr>
              <a:t> </a:t>
            </a:r>
            <a:r>
              <a:rPr dirty="0" sz="3650" spc="-145">
                <a:latin typeface="Tahoma"/>
                <a:cs typeface="Tahoma"/>
              </a:rPr>
              <a:t>and</a:t>
            </a:r>
            <a:r>
              <a:rPr dirty="0" sz="3650" spc="-575">
                <a:latin typeface="Tahoma"/>
                <a:cs typeface="Tahoma"/>
              </a:rPr>
              <a:t> </a:t>
            </a:r>
            <a:r>
              <a:rPr dirty="0" sz="3650" spc="-10">
                <a:latin typeface="Tahoma"/>
                <a:cs typeface="Tahoma"/>
              </a:rPr>
              <a:t>category</a:t>
            </a:r>
            <a:endParaRPr sz="36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365"/>
              <a:t>EXCEL</a:t>
            </a:r>
            <a:r>
              <a:rPr dirty="0" spc="-135"/>
              <a:t> </a:t>
            </a:r>
            <a:r>
              <a:rPr dirty="0" spc="570"/>
              <a:t>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8699" y="1028699"/>
            <a:ext cx="6200140" cy="1980564"/>
            <a:chOff x="1028699" y="1028699"/>
            <a:chExt cx="6200140" cy="1980564"/>
          </a:xfrm>
        </p:grpSpPr>
        <p:sp>
          <p:nvSpPr>
            <p:cNvPr id="3" name="object 3" descr=""/>
            <p:cNvSpPr/>
            <p:nvPr/>
          </p:nvSpPr>
          <p:spPr>
            <a:xfrm>
              <a:off x="1028699" y="1028699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5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5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47806" y="2534098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70883" y="1170884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3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182234" y="2467423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2394" y="2414050"/>
            <a:ext cx="3667124" cy="545782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124560" y="2979823"/>
            <a:ext cx="3896995" cy="58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-105">
                <a:latin typeface="Tahoma"/>
                <a:cs typeface="Tahoma"/>
              </a:rPr>
              <a:t>Fraud</a:t>
            </a:r>
            <a:r>
              <a:rPr dirty="0" sz="3650" spc="-585">
                <a:latin typeface="Tahoma"/>
                <a:cs typeface="Tahoma"/>
              </a:rPr>
              <a:t> </a:t>
            </a:r>
            <a:r>
              <a:rPr dirty="0" sz="3650" spc="-110">
                <a:latin typeface="Tahoma"/>
                <a:cs typeface="Tahoma"/>
              </a:rPr>
              <a:t>by</a:t>
            </a:r>
            <a:r>
              <a:rPr dirty="0" sz="3650" spc="-580">
                <a:latin typeface="Tahoma"/>
                <a:cs typeface="Tahoma"/>
              </a:rPr>
              <a:t> </a:t>
            </a:r>
            <a:r>
              <a:rPr dirty="0" sz="3650" spc="-10">
                <a:latin typeface="Tahoma"/>
                <a:cs typeface="Tahoma"/>
              </a:rPr>
              <a:t>Categories</a:t>
            </a:r>
            <a:endParaRPr sz="36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365"/>
              <a:t>EXCEL</a:t>
            </a:r>
            <a:r>
              <a:rPr dirty="0" spc="-135"/>
              <a:t> </a:t>
            </a:r>
            <a:r>
              <a:rPr dirty="0" spc="570"/>
              <a:t>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4897466"/>
            <a:ext cx="3537585" cy="5389880"/>
            <a:chOff x="0" y="4897466"/>
            <a:chExt cx="3537585" cy="53898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9834362"/>
              <a:ext cx="189664" cy="18966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9834362"/>
              <a:ext cx="189664" cy="18966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9834362"/>
              <a:ext cx="189664" cy="18966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9834362"/>
              <a:ext cx="179271" cy="18966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7344" y="9552681"/>
              <a:ext cx="189664" cy="1896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5662" y="9552681"/>
              <a:ext cx="189664" cy="18966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3981" y="9552681"/>
              <a:ext cx="189664" cy="18966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2692" y="9552681"/>
              <a:ext cx="179271" cy="18966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7344" y="9270999"/>
              <a:ext cx="189664" cy="18966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5662" y="9270999"/>
              <a:ext cx="189664" cy="18966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3981" y="9270999"/>
              <a:ext cx="189664" cy="18966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2692" y="9271000"/>
              <a:ext cx="179271" cy="18966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8989317"/>
              <a:ext cx="189664" cy="18966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8989317"/>
              <a:ext cx="189664" cy="18966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8989317"/>
              <a:ext cx="189664" cy="18966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8989317"/>
              <a:ext cx="179271" cy="18966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8707636"/>
              <a:ext cx="189664" cy="18966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8707636"/>
              <a:ext cx="189664" cy="18966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8707636"/>
              <a:ext cx="189664" cy="18966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8707637"/>
              <a:ext cx="179271" cy="18966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67344" y="8436131"/>
              <a:ext cx="189664" cy="17948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5663" y="8436131"/>
              <a:ext cx="189664" cy="17948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2692" y="8436131"/>
              <a:ext cx="179271" cy="17948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3981" y="8436131"/>
              <a:ext cx="189664" cy="179488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3796495" y="0"/>
            <a:ext cx="14491969" cy="10287000"/>
            <a:chOff x="3796495" y="0"/>
            <a:chExt cx="14491969" cy="10287000"/>
          </a:xfrm>
        </p:grpSpPr>
        <p:sp>
          <p:nvSpPr>
            <p:cNvPr id="28" name="object 28" descr=""/>
            <p:cNvSpPr/>
            <p:nvPr/>
          </p:nvSpPr>
          <p:spPr>
            <a:xfrm>
              <a:off x="3834595" y="3617552"/>
              <a:ext cx="5304155" cy="5263515"/>
            </a:xfrm>
            <a:custGeom>
              <a:avLst/>
              <a:gdLst/>
              <a:ahLst/>
              <a:cxnLst/>
              <a:rect l="l" t="t" r="r" b="b"/>
              <a:pathLst>
                <a:path w="5304155" h="5263515">
                  <a:moveTo>
                    <a:pt x="0" y="0"/>
                  </a:moveTo>
                  <a:lnTo>
                    <a:pt x="5303905" y="0"/>
                  </a:lnTo>
                  <a:lnTo>
                    <a:pt x="5303905" y="5263455"/>
                  </a:lnTo>
                  <a:lnTo>
                    <a:pt x="0" y="526345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9AD9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447617" y="3617552"/>
              <a:ext cx="5304155" cy="5263515"/>
            </a:xfrm>
            <a:custGeom>
              <a:avLst/>
              <a:gdLst/>
              <a:ahLst/>
              <a:cxnLst/>
              <a:rect l="l" t="t" r="r" b="b"/>
              <a:pathLst>
                <a:path w="5304155" h="5263515">
                  <a:moveTo>
                    <a:pt x="0" y="0"/>
                  </a:moveTo>
                  <a:lnTo>
                    <a:pt x="5303905" y="0"/>
                  </a:lnTo>
                  <a:lnTo>
                    <a:pt x="5303905" y="5263455"/>
                  </a:lnTo>
                  <a:lnTo>
                    <a:pt x="0" y="5263455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9AD9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741995" y="0"/>
              <a:ext cx="3546475" cy="5402580"/>
            </a:xfrm>
            <a:custGeom>
              <a:avLst/>
              <a:gdLst/>
              <a:ahLst/>
              <a:cxnLst/>
              <a:rect l="l" t="t" r="r" b="b"/>
              <a:pathLst>
                <a:path w="3546475" h="5402580">
                  <a:moveTo>
                    <a:pt x="3545903" y="5323598"/>
                  </a:moveTo>
                  <a:lnTo>
                    <a:pt x="3545713" y="5323878"/>
                  </a:lnTo>
                  <a:lnTo>
                    <a:pt x="51904" y="0"/>
                  </a:lnTo>
                  <a:lnTo>
                    <a:pt x="0" y="0"/>
                  </a:lnTo>
                  <a:lnTo>
                    <a:pt x="3493986" y="5323878"/>
                  </a:lnTo>
                  <a:lnTo>
                    <a:pt x="3545573" y="5402478"/>
                  </a:lnTo>
                  <a:lnTo>
                    <a:pt x="3545903" y="5402478"/>
                  </a:lnTo>
                  <a:lnTo>
                    <a:pt x="3545903" y="5323598"/>
                  </a:lnTo>
                  <a:close/>
                </a:path>
                <a:path w="3546475" h="5402580">
                  <a:moveTo>
                    <a:pt x="3546005" y="0"/>
                  </a:moveTo>
                  <a:lnTo>
                    <a:pt x="1086446" y="0"/>
                  </a:lnTo>
                  <a:lnTo>
                    <a:pt x="3546005" y="3637267"/>
                  </a:lnTo>
                  <a:lnTo>
                    <a:pt x="354600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7741228" y="2073401"/>
              <a:ext cx="547370" cy="2787650"/>
            </a:xfrm>
            <a:custGeom>
              <a:avLst/>
              <a:gdLst/>
              <a:ahLst/>
              <a:cxnLst/>
              <a:rect l="l" t="t" r="r" b="b"/>
              <a:pathLst>
                <a:path w="547369" h="2787650">
                  <a:moveTo>
                    <a:pt x="546773" y="341414"/>
                  </a:moveTo>
                  <a:lnTo>
                    <a:pt x="0" y="341414"/>
                  </a:lnTo>
                  <a:lnTo>
                    <a:pt x="0" y="384594"/>
                  </a:lnTo>
                  <a:lnTo>
                    <a:pt x="0" y="2744254"/>
                  </a:lnTo>
                  <a:lnTo>
                    <a:pt x="0" y="2787434"/>
                  </a:lnTo>
                  <a:lnTo>
                    <a:pt x="546773" y="2787434"/>
                  </a:lnTo>
                  <a:lnTo>
                    <a:pt x="546773" y="2744254"/>
                  </a:lnTo>
                  <a:lnTo>
                    <a:pt x="43307" y="2744254"/>
                  </a:lnTo>
                  <a:lnTo>
                    <a:pt x="43307" y="384594"/>
                  </a:lnTo>
                  <a:lnTo>
                    <a:pt x="546773" y="384594"/>
                  </a:lnTo>
                  <a:lnTo>
                    <a:pt x="546773" y="341414"/>
                  </a:lnTo>
                  <a:close/>
                </a:path>
                <a:path w="547369" h="2787650">
                  <a:moveTo>
                    <a:pt x="546773" y="0"/>
                  </a:moveTo>
                  <a:lnTo>
                    <a:pt x="15163" y="0"/>
                  </a:lnTo>
                  <a:lnTo>
                    <a:pt x="15163" y="43294"/>
                  </a:lnTo>
                  <a:lnTo>
                    <a:pt x="546773" y="43294"/>
                  </a:lnTo>
                  <a:lnTo>
                    <a:pt x="54677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852" y="275911"/>
              <a:ext cx="189664" cy="18966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2533" y="275911"/>
              <a:ext cx="189664" cy="18966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94214" y="275911"/>
              <a:ext cx="189664" cy="189664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075898" y="275910"/>
              <a:ext cx="179271" cy="18966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230852" y="557592"/>
              <a:ext cx="189664" cy="18966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512533" y="557592"/>
              <a:ext cx="189664" cy="189664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94214" y="557592"/>
              <a:ext cx="189664" cy="18966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075898" y="557592"/>
              <a:ext cx="179271" cy="18966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2" y="839273"/>
              <a:ext cx="189664" cy="18966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3" y="839273"/>
              <a:ext cx="189664" cy="18966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839273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8" y="839273"/>
              <a:ext cx="179271" cy="18966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2" y="1120955"/>
              <a:ext cx="189664" cy="189664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3" y="1120955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120955"/>
              <a:ext cx="189664" cy="18966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2" y="1402636"/>
              <a:ext cx="189664" cy="18966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8" y="1120955"/>
              <a:ext cx="179271" cy="189664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3" y="1402636"/>
              <a:ext cx="189664" cy="189664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402636"/>
              <a:ext cx="189664" cy="189664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8" y="1402636"/>
              <a:ext cx="179271" cy="189664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30853" y="1684318"/>
              <a:ext cx="189664" cy="179488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216" y="1684318"/>
              <a:ext cx="189664" cy="179488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534" y="1684318"/>
              <a:ext cx="189664" cy="179488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75898" y="1684318"/>
              <a:ext cx="179271" cy="179488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5504364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59" name="object 59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4096162" y="3468878"/>
            <a:ext cx="4631055" cy="425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98780" marR="391160" indent="-635">
              <a:lnSpc>
                <a:spcPct val="115599"/>
              </a:lnSpc>
              <a:spcBef>
                <a:spcPts val="100"/>
              </a:spcBef>
            </a:pPr>
            <a:r>
              <a:rPr dirty="0" sz="4000" spc="-25">
                <a:latin typeface="Tahoma"/>
                <a:cs typeface="Tahoma"/>
              </a:rPr>
              <a:t>Created</a:t>
            </a:r>
            <a:r>
              <a:rPr dirty="0" sz="4000" spc="-630">
                <a:latin typeface="Tahoma"/>
                <a:cs typeface="Tahoma"/>
              </a:rPr>
              <a:t> </a:t>
            </a:r>
            <a:r>
              <a:rPr dirty="0" sz="4000" spc="-10">
                <a:latin typeface="Tahoma"/>
                <a:cs typeface="Tahoma"/>
              </a:rPr>
              <a:t>finance </a:t>
            </a:r>
            <a:r>
              <a:rPr dirty="0" sz="4000" spc="-125">
                <a:latin typeface="Tahoma"/>
                <a:cs typeface="Tahoma"/>
              </a:rPr>
              <a:t>schema</a:t>
            </a:r>
            <a:r>
              <a:rPr dirty="0" sz="4000" spc="-645">
                <a:latin typeface="Tahoma"/>
                <a:cs typeface="Tahoma"/>
              </a:rPr>
              <a:t> </a:t>
            </a:r>
            <a:r>
              <a:rPr dirty="0" sz="4000" spc="-165">
                <a:latin typeface="Tahoma"/>
                <a:cs typeface="Tahoma"/>
              </a:rPr>
              <a:t>and</a:t>
            </a:r>
            <a:r>
              <a:rPr dirty="0" sz="4000" spc="-645">
                <a:latin typeface="Tahoma"/>
                <a:cs typeface="Tahoma"/>
              </a:rPr>
              <a:t> </a:t>
            </a:r>
            <a:r>
              <a:rPr dirty="0" sz="4000" spc="-45">
                <a:latin typeface="Tahoma"/>
                <a:cs typeface="Tahoma"/>
              </a:rPr>
              <a:t>tables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4000">
              <a:latin typeface="Tahoma"/>
              <a:cs typeface="Tahoma"/>
            </a:endParaRPr>
          </a:p>
          <a:p>
            <a:pPr algn="ctr" marL="12065" marR="5080" indent="-635">
              <a:lnSpc>
                <a:spcPct val="115599"/>
              </a:lnSpc>
              <a:spcBef>
                <a:spcPts val="5"/>
              </a:spcBef>
            </a:pPr>
            <a:r>
              <a:rPr dirty="0" sz="4000" spc="-110">
                <a:latin typeface="Tahoma"/>
                <a:cs typeface="Tahoma"/>
              </a:rPr>
              <a:t>Performed</a:t>
            </a:r>
            <a:r>
              <a:rPr dirty="0" sz="4000" spc="-590">
                <a:latin typeface="Tahoma"/>
                <a:cs typeface="Tahoma"/>
              </a:rPr>
              <a:t> </a:t>
            </a:r>
            <a:r>
              <a:rPr dirty="0" sz="4000" spc="-10">
                <a:latin typeface="Tahoma"/>
                <a:cs typeface="Tahoma"/>
              </a:rPr>
              <a:t>joins </a:t>
            </a:r>
            <a:r>
              <a:rPr dirty="0" sz="4000" spc="-150">
                <a:latin typeface="Tahoma"/>
                <a:cs typeface="Tahoma"/>
              </a:rPr>
              <a:t>between</a:t>
            </a:r>
            <a:r>
              <a:rPr dirty="0" sz="4000" spc="-610">
                <a:latin typeface="Tahoma"/>
                <a:cs typeface="Tahoma"/>
              </a:rPr>
              <a:t> </a:t>
            </a:r>
            <a:r>
              <a:rPr dirty="0" sz="4000" spc="-85">
                <a:latin typeface="Tahoma"/>
                <a:cs typeface="Tahoma"/>
              </a:rPr>
              <a:t>transaction</a:t>
            </a:r>
            <a:r>
              <a:rPr dirty="0" sz="4000" spc="-605">
                <a:latin typeface="Tahoma"/>
                <a:cs typeface="Tahoma"/>
              </a:rPr>
              <a:t> </a:t>
            </a:r>
            <a:r>
              <a:rPr dirty="0" sz="4000" spc="-565">
                <a:latin typeface="Tahoma"/>
                <a:cs typeface="Tahoma"/>
              </a:rPr>
              <a:t>&amp; </a:t>
            </a:r>
            <a:r>
              <a:rPr dirty="0" sz="4000" spc="-145">
                <a:latin typeface="Tahoma"/>
                <a:cs typeface="Tahoma"/>
              </a:rPr>
              <a:t>location</a:t>
            </a:r>
            <a:r>
              <a:rPr dirty="0" sz="4000" spc="-620">
                <a:latin typeface="Tahoma"/>
                <a:cs typeface="Tahoma"/>
              </a:rPr>
              <a:t> </a:t>
            </a:r>
            <a:r>
              <a:rPr dirty="0" sz="4000" spc="-20">
                <a:latin typeface="Tahoma"/>
                <a:cs typeface="Tahoma"/>
              </a:rPr>
              <a:t>data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0164863" y="3500794"/>
            <a:ext cx="4383405" cy="3740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635" marR="120014">
              <a:lnSpc>
                <a:spcPct val="116100"/>
              </a:lnSpc>
              <a:spcBef>
                <a:spcPts val="95"/>
              </a:spcBef>
            </a:pPr>
            <a:r>
              <a:rPr dirty="0" sz="3500" spc="-55">
                <a:latin typeface="Tahoma"/>
                <a:cs typeface="Tahoma"/>
              </a:rPr>
              <a:t>Calculated</a:t>
            </a:r>
            <a:r>
              <a:rPr dirty="0" sz="3500" spc="-520">
                <a:latin typeface="Tahoma"/>
                <a:cs typeface="Tahoma"/>
              </a:rPr>
              <a:t> </a:t>
            </a:r>
            <a:r>
              <a:rPr dirty="0" sz="3500" spc="-20">
                <a:latin typeface="Tahoma"/>
                <a:cs typeface="Tahoma"/>
              </a:rPr>
              <a:t>fraud </a:t>
            </a:r>
            <a:r>
              <a:rPr dirty="0" sz="3500" spc="-40">
                <a:latin typeface="Tahoma"/>
                <a:cs typeface="Tahoma"/>
              </a:rPr>
              <a:t>percentage</a:t>
            </a:r>
            <a:r>
              <a:rPr dirty="0" sz="3500" spc="-525">
                <a:latin typeface="Tahoma"/>
                <a:cs typeface="Tahoma"/>
              </a:rPr>
              <a:t> </a:t>
            </a:r>
            <a:r>
              <a:rPr dirty="0" sz="3500" spc="-25">
                <a:latin typeface="Tahoma"/>
                <a:cs typeface="Tahoma"/>
              </a:rPr>
              <a:t>and category-</a:t>
            </a:r>
            <a:r>
              <a:rPr dirty="0" sz="3500" spc="-80">
                <a:latin typeface="Tahoma"/>
                <a:cs typeface="Tahoma"/>
              </a:rPr>
              <a:t>wise</a:t>
            </a:r>
            <a:r>
              <a:rPr dirty="0" sz="3500" spc="-515">
                <a:latin typeface="Tahoma"/>
                <a:cs typeface="Tahoma"/>
              </a:rPr>
              <a:t> </a:t>
            </a:r>
            <a:r>
              <a:rPr dirty="0" sz="3500" spc="-30">
                <a:latin typeface="Tahoma"/>
                <a:cs typeface="Tahoma"/>
              </a:rPr>
              <a:t>metrics</a:t>
            </a:r>
            <a:endParaRPr sz="3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3500">
              <a:latin typeface="Tahoma"/>
              <a:cs typeface="Tahoma"/>
            </a:endParaRPr>
          </a:p>
          <a:p>
            <a:pPr algn="ctr" marL="12700" marR="5080">
              <a:lnSpc>
                <a:spcPct val="116100"/>
              </a:lnSpc>
            </a:pPr>
            <a:r>
              <a:rPr dirty="0" sz="3500" spc="-110">
                <a:latin typeface="Tahoma"/>
                <a:cs typeface="Tahoma"/>
              </a:rPr>
              <a:t>Time-</a:t>
            </a:r>
            <a:r>
              <a:rPr dirty="0" sz="3500" spc="-60">
                <a:latin typeface="Tahoma"/>
                <a:cs typeface="Tahoma"/>
              </a:rPr>
              <a:t>based</a:t>
            </a:r>
            <a:r>
              <a:rPr dirty="0" sz="3500" spc="-515">
                <a:latin typeface="Tahoma"/>
                <a:cs typeface="Tahoma"/>
              </a:rPr>
              <a:t> </a:t>
            </a:r>
            <a:r>
              <a:rPr dirty="0" sz="3500" spc="-55">
                <a:latin typeface="Tahoma"/>
                <a:cs typeface="Tahoma"/>
              </a:rPr>
              <a:t>transaction </a:t>
            </a:r>
            <a:r>
              <a:rPr dirty="0" sz="3500" spc="-10">
                <a:latin typeface="Tahoma"/>
                <a:cs typeface="Tahoma"/>
              </a:rPr>
              <a:t>analysis</a:t>
            </a:r>
            <a:endParaRPr sz="3500">
              <a:latin typeface="Tahoma"/>
              <a:cs typeface="Tahoma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64" name="object 64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62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550"/>
              <a:t>SQL</a:t>
            </a:r>
            <a:r>
              <a:rPr dirty="0" spc="-135"/>
              <a:t> </a:t>
            </a:r>
            <a:r>
              <a:rPr dirty="0" spc="570"/>
              <a:t>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9155" y="3677368"/>
            <a:ext cx="11191874" cy="24383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4" name="object 4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7" name="object 7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10" name="object 10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3749" y="6460464"/>
            <a:ext cx="6915149" cy="322897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6294" rIns="0" bIns="0" rtlCol="0" vert="horz">
            <a:spAutoFit/>
          </a:bodyPr>
          <a:lstStyle/>
          <a:p>
            <a:pPr marL="649605">
              <a:lnSpc>
                <a:spcPct val="100000"/>
              </a:lnSpc>
              <a:spcBef>
                <a:spcPts val="130"/>
              </a:spcBef>
            </a:pPr>
            <a:r>
              <a:rPr dirty="0" spc="495"/>
              <a:t>PROBLEMS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1418" y="3721198"/>
            <a:ext cx="11649074" cy="235267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4" name="object 4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7" name="object 7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10" name="object 10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1009" y="6794802"/>
            <a:ext cx="9505949" cy="28670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6294" rIns="0" bIns="0" rtlCol="0" vert="horz">
            <a:spAutoFit/>
          </a:bodyPr>
          <a:lstStyle/>
          <a:p>
            <a:pPr marL="649605">
              <a:lnSpc>
                <a:spcPct val="100000"/>
              </a:lnSpc>
              <a:spcBef>
                <a:spcPts val="130"/>
              </a:spcBef>
            </a:pPr>
            <a:r>
              <a:rPr dirty="0" spc="495"/>
              <a:t>PROBLEMS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" name="object 6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9" name="object 9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3947460"/>
            <a:ext cx="85725" cy="857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313977" y="3585611"/>
            <a:ext cx="5044440" cy="2787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66370">
              <a:lnSpc>
                <a:spcPct val="116900"/>
              </a:lnSpc>
              <a:spcBef>
                <a:spcPts val="95"/>
              </a:spcBef>
            </a:pPr>
            <a:r>
              <a:rPr dirty="0" sz="3100" spc="-170">
                <a:latin typeface="Tahoma"/>
                <a:cs typeface="Tahoma"/>
              </a:rPr>
              <a:t>Data</a:t>
            </a:r>
            <a:r>
              <a:rPr dirty="0" sz="3100" spc="-75">
                <a:latin typeface="Tahoma"/>
                <a:cs typeface="Tahoma"/>
              </a:rPr>
              <a:t> </a:t>
            </a:r>
            <a:r>
              <a:rPr dirty="0" sz="3100" spc="-150">
                <a:latin typeface="Tahoma"/>
                <a:cs typeface="Tahoma"/>
              </a:rPr>
              <a:t>quality</a:t>
            </a:r>
            <a:r>
              <a:rPr dirty="0" sz="3100" spc="-80">
                <a:latin typeface="Tahoma"/>
                <a:cs typeface="Tahoma"/>
              </a:rPr>
              <a:t> </a:t>
            </a:r>
            <a:r>
              <a:rPr dirty="0" sz="3100" spc="-295">
                <a:latin typeface="Tahoma"/>
                <a:cs typeface="Tahoma"/>
              </a:rPr>
              <a:t>and</a:t>
            </a:r>
            <a:r>
              <a:rPr dirty="0" sz="3100" spc="50">
                <a:latin typeface="Tahoma"/>
                <a:cs typeface="Tahoma"/>
              </a:rPr>
              <a:t> </a:t>
            </a:r>
            <a:r>
              <a:rPr dirty="0" sz="3100" spc="-114">
                <a:latin typeface="Tahoma"/>
                <a:cs typeface="Tahoma"/>
              </a:rPr>
              <a:t>missing</a:t>
            </a:r>
            <a:r>
              <a:rPr dirty="0" sz="3100" spc="-30">
                <a:latin typeface="Tahoma"/>
                <a:cs typeface="Tahoma"/>
              </a:rPr>
              <a:t> </a:t>
            </a:r>
            <a:r>
              <a:rPr dirty="0" sz="3100" spc="-35">
                <a:latin typeface="Tahoma"/>
                <a:cs typeface="Tahoma"/>
              </a:rPr>
              <a:t>value </a:t>
            </a:r>
            <a:r>
              <a:rPr dirty="0" sz="3100" spc="-10">
                <a:latin typeface="Tahoma"/>
                <a:cs typeface="Tahoma"/>
              </a:rPr>
              <a:t>checks</a:t>
            </a:r>
            <a:endParaRPr sz="3100">
              <a:latin typeface="Tahoma"/>
              <a:cs typeface="Tahoma"/>
            </a:endParaRPr>
          </a:p>
          <a:p>
            <a:pPr algn="just" marL="12700" marR="5080">
              <a:lnSpc>
                <a:spcPct val="116900"/>
              </a:lnSpc>
            </a:pPr>
            <a:r>
              <a:rPr dirty="0" sz="3100" spc="-140">
                <a:latin typeface="Tahoma"/>
                <a:cs typeface="Tahoma"/>
              </a:rPr>
              <a:t>Distribution</a:t>
            </a:r>
            <a:r>
              <a:rPr dirty="0" sz="3100" spc="-65">
                <a:latin typeface="Tahoma"/>
                <a:cs typeface="Tahoma"/>
              </a:rPr>
              <a:t> </a:t>
            </a:r>
            <a:r>
              <a:rPr dirty="0" sz="3100" spc="-295">
                <a:latin typeface="Tahoma"/>
                <a:cs typeface="Tahoma"/>
              </a:rPr>
              <a:t>and</a:t>
            </a:r>
            <a:r>
              <a:rPr dirty="0" sz="3100" spc="50">
                <a:latin typeface="Tahoma"/>
                <a:cs typeface="Tahoma"/>
              </a:rPr>
              <a:t> </a:t>
            </a:r>
            <a:r>
              <a:rPr dirty="0" sz="3100" spc="-165">
                <a:latin typeface="Tahoma"/>
                <a:cs typeface="Tahoma"/>
              </a:rPr>
              <a:t>outlier</a:t>
            </a:r>
            <a:r>
              <a:rPr dirty="0" sz="3100" spc="-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analysis </a:t>
            </a:r>
            <a:r>
              <a:rPr dirty="0" sz="3100" spc="-165">
                <a:latin typeface="Tahoma"/>
                <a:cs typeface="Tahoma"/>
              </a:rPr>
              <a:t>Fraud</a:t>
            </a:r>
            <a:r>
              <a:rPr dirty="0" sz="3100" spc="-90">
                <a:latin typeface="Tahoma"/>
                <a:cs typeface="Tahoma"/>
              </a:rPr>
              <a:t> </a:t>
            </a:r>
            <a:r>
              <a:rPr dirty="0" sz="3100" spc="-55">
                <a:latin typeface="Tahoma"/>
                <a:cs typeface="Tahoma"/>
              </a:rPr>
              <a:t>vs</a:t>
            </a:r>
            <a:r>
              <a:rPr dirty="0" sz="3100" spc="-140">
                <a:latin typeface="Tahoma"/>
                <a:cs typeface="Tahoma"/>
              </a:rPr>
              <a:t> </a:t>
            </a:r>
            <a:r>
              <a:rPr dirty="0" sz="3100" spc="-150">
                <a:latin typeface="Tahoma"/>
                <a:cs typeface="Tahoma"/>
              </a:rPr>
              <a:t>non-</a:t>
            </a:r>
            <a:r>
              <a:rPr dirty="0" sz="3100" spc="-130">
                <a:latin typeface="Tahoma"/>
                <a:cs typeface="Tahoma"/>
              </a:rPr>
              <a:t>fraud</a:t>
            </a:r>
            <a:r>
              <a:rPr dirty="0" sz="3100" spc="-105">
                <a:latin typeface="Tahoma"/>
                <a:cs typeface="Tahoma"/>
              </a:rPr>
              <a:t> </a:t>
            </a:r>
            <a:r>
              <a:rPr dirty="0" sz="3100" spc="-85">
                <a:latin typeface="Tahoma"/>
                <a:cs typeface="Tahoma"/>
              </a:rPr>
              <a:t>comparison </a:t>
            </a:r>
            <a:r>
              <a:rPr dirty="0" sz="3100" spc="-65">
                <a:latin typeface="Tahoma"/>
                <a:cs typeface="Tahoma"/>
              </a:rPr>
              <a:t>Correlation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analysis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052360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604809"/>
            <a:ext cx="85725" cy="857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6157259"/>
            <a:ext cx="85725" cy="8572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838835">
              <a:lnSpc>
                <a:spcPct val="100000"/>
              </a:lnSpc>
              <a:spcBef>
                <a:spcPts val="105"/>
              </a:spcBef>
            </a:pPr>
            <a:r>
              <a:rPr dirty="0" sz="3700" spc="350"/>
              <a:t>PYTHON</a:t>
            </a:r>
            <a:r>
              <a:rPr dirty="0" sz="3700" spc="-90"/>
              <a:t> </a:t>
            </a:r>
            <a:r>
              <a:rPr dirty="0" sz="3700" spc="290"/>
              <a:t>EDA</a:t>
            </a:r>
            <a:endParaRPr sz="3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5643429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049" y="440738"/>
              <a:ext cx="16906874" cy="94011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6364" y="574994"/>
              <a:ext cx="13554074" cy="9496424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7" name="object 7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768410" y="60052"/>
            <a:ext cx="3968750" cy="4775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80"/>
              <a:t>Correlation</a:t>
            </a:r>
            <a:r>
              <a:rPr dirty="0" sz="2950" spc="-70"/>
              <a:t> </a:t>
            </a:r>
            <a:r>
              <a:rPr dirty="0" sz="2950" spc="190"/>
              <a:t>analysis</a:t>
            </a:r>
            <a:endParaRPr sz="2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" name="object 6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9" name="object 9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3947460"/>
            <a:ext cx="85725" cy="857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313977" y="3585611"/>
            <a:ext cx="5658485" cy="3340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6830">
              <a:lnSpc>
                <a:spcPct val="116900"/>
              </a:lnSpc>
              <a:spcBef>
                <a:spcPts val="95"/>
              </a:spcBef>
            </a:pPr>
            <a:r>
              <a:rPr dirty="0" sz="3100" spc="-45">
                <a:latin typeface="Tahoma"/>
                <a:cs typeface="Tahoma"/>
              </a:rPr>
              <a:t>Transaction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165">
                <a:latin typeface="Tahoma"/>
                <a:cs typeface="Tahoma"/>
              </a:rPr>
              <a:t>amount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90">
                <a:latin typeface="Tahoma"/>
                <a:cs typeface="Tahoma"/>
              </a:rPr>
              <a:t>by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50">
                <a:latin typeface="Tahoma"/>
                <a:cs typeface="Tahoma"/>
              </a:rPr>
              <a:t>gender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55">
                <a:latin typeface="Tahoma"/>
                <a:cs typeface="Tahoma"/>
              </a:rPr>
              <a:t>and </a:t>
            </a:r>
            <a:r>
              <a:rPr dirty="0" sz="3100" spc="-10">
                <a:latin typeface="Tahoma"/>
                <a:cs typeface="Tahoma"/>
              </a:rPr>
              <a:t>category</a:t>
            </a:r>
            <a:endParaRPr sz="3100">
              <a:latin typeface="Tahoma"/>
              <a:cs typeface="Tahoma"/>
            </a:endParaRPr>
          </a:p>
          <a:p>
            <a:pPr marL="12700" marR="5080">
              <a:lnSpc>
                <a:spcPct val="116900"/>
              </a:lnSpc>
            </a:pPr>
            <a:r>
              <a:rPr dirty="0" sz="3100" spc="-65">
                <a:latin typeface="Tahoma"/>
                <a:cs typeface="Tahoma"/>
              </a:rPr>
              <a:t>Geographic</a:t>
            </a:r>
            <a:r>
              <a:rPr dirty="0" sz="3100" spc="-459">
                <a:latin typeface="Tahoma"/>
                <a:cs typeface="Tahoma"/>
              </a:rPr>
              <a:t> </a:t>
            </a:r>
            <a:r>
              <a:rPr dirty="0" sz="3100" spc="-55">
                <a:latin typeface="Tahoma"/>
                <a:cs typeface="Tahoma"/>
              </a:rPr>
              <a:t>fraud</a:t>
            </a:r>
            <a:r>
              <a:rPr dirty="0" sz="3100" spc="-45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distribution </a:t>
            </a:r>
            <a:r>
              <a:rPr dirty="0" sz="3100" spc="-165">
                <a:latin typeface="Tahoma"/>
                <a:cs typeface="Tahoma"/>
              </a:rPr>
              <a:t>Monthly</a:t>
            </a:r>
            <a:r>
              <a:rPr dirty="0" sz="3100" spc="-430">
                <a:latin typeface="Tahoma"/>
                <a:cs typeface="Tahoma"/>
              </a:rPr>
              <a:t> </a:t>
            </a:r>
            <a:r>
              <a:rPr dirty="0" sz="3100" spc="-55">
                <a:latin typeface="Tahoma"/>
                <a:cs typeface="Tahoma"/>
              </a:rPr>
              <a:t>transaction</a:t>
            </a:r>
            <a:r>
              <a:rPr dirty="0" sz="3100" spc="-430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trends </a:t>
            </a:r>
            <a:r>
              <a:rPr dirty="0" sz="3100" spc="-50">
                <a:latin typeface="Tahoma"/>
                <a:cs typeface="Tahoma"/>
              </a:rPr>
              <a:t>Interactive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90">
                <a:latin typeface="Tahoma"/>
                <a:cs typeface="Tahoma"/>
              </a:rPr>
              <a:t>dashboard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45">
                <a:latin typeface="Tahoma"/>
                <a:cs typeface="Tahoma"/>
              </a:rPr>
              <a:t>for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30">
                <a:latin typeface="Tahoma"/>
                <a:cs typeface="Tahoma"/>
              </a:rPr>
              <a:t>business </a:t>
            </a:r>
            <a:r>
              <a:rPr dirty="0" sz="3100" spc="-10">
                <a:latin typeface="Tahoma"/>
                <a:cs typeface="Tahoma"/>
              </a:rPr>
              <a:t>users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052360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5604809"/>
            <a:ext cx="85725" cy="857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296" y="6157259"/>
            <a:ext cx="85725" cy="8572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978535" marR="5080" indent="457200">
              <a:lnSpc>
                <a:spcPct val="100000"/>
              </a:lnSpc>
              <a:spcBef>
                <a:spcPts val="114"/>
              </a:spcBef>
            </a:pPr>
            <a:r>
              <a:rPr dirty="0" sz="3550" spc="215"/>
              <a:t>TABLEAU </a:t>
            </a:r>
            <a:r>
              <a:rPr dirty="0" sz="3550" spc="420"/>
              <a:t>DASHBOARD</a:t>
            </a:r>
            <a:endParaRPr sz="35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966477" y="8738242"/>
            <a:ext cx="2033270" cy="1548765"/>
          </a:xfrm>
          <a:custGeom>
            <a:avLst/>
            <a:gdLst/>
            <a:ahLst/>
            <a:cxnLst/>
            <a:rect l="l" t="t" r="r" b="b"/>
            <a:pathLst>
              <a:path w="2033270" h="1548765">
                <a:moveTo>
                  <a:pt x="1981369" y="1548757"/>
                </a:moveTo>
                <a:lnTo>
                  <a:pt x="2033081" y="1548757"/>
                </a:lnTo>
                <a:lnTo>
                  <a:pt x="1016713" y="0"/>
                </a:lnTo>
                <a:lnTo>
                  <a:pt x="1016428" y="0"/>
                </a:lnTo>
                <a:lnTo>
                  <a:pt x="964848" y="78593"/>
                </a:lnTo>
                <a:lnTo>
                  <a:pt x="1016570" y="78593"/>
                </a:lnTo>
                <a:lnTo>
                  <a:pt x="1981369" y="1548757"/>
                </a:lnTo>
                <a:close/>
              </a:path>
              <a:path w="2033270" h="1548765">
                <a:moveTo>
                  <a:pt x="0" y="1548757"/>
                </a:moveTo>
                <a:lnTo>
                  <a:pt x="51772" y="1548757"/>
                </a:lnTo>
                <a:lnTo>
                  <a:pt x="1016570" y="78593"/>
                </a:lnTo>
                <a:lnTo>
                  <a:pt x="964848" y="78593"/>
                </a:lnTo>
                <a:lnTo>
                  <a:pt x="0" y="1548757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0437" y="592182"/>
            <a:ext cx="17983200" cy="9695180"/>
            <a:chOff x="150437" y="592182"/>
            <a:chExt cx="17983200" cy="9695180"/>
          </a:xfrm>
        </p:grpSpPr>
        <p:sp>
          <p:nvSpPr>
            <p:cNvPr id="4" name="object 4" descr=""/>
            <p:cNvSpPr/>
            <p:nvPr/>
          </p:nvSpPr>
          <p:spPr>
            <a:xfrm>
              <a:off x="11436566" y="8971280"/>
              <a:ext cx="3479800" cy="1316355"/>
            </a:xfrm>
            <a:custGeom>
              <a:avLst/>
              <a:gdLst/>
              <a:ahLst/>
              <a:cxnLst/>
              <a:rect l="l" t="t" r="r" b="b"/>
              <a:pathLst>
                <a:path w="3479800" h="1316354">
                  <a:moveTo>
                    <a:pt x="3052813" y="308610"/>
                  </a:moveTo>
                  <a:lnTo>
                    <a:pt x="0" y="308610"/>
                  </a:lnTo>
                  <a:lnTo>
                    <a:pt x="0" y="351548"/>
                  </a:lnTo>
                  <a:lnTo>
                    <a:pt x="0" y="351790"/>
                  </a:lnTo>
                  <a:lnTo>
                    <a:pt x="0" y="1315732"/>
                  </a:lnTo>
                  <a:lnTo>
                    <a:pt x="43307" y="1315732"/>
                  </a:lnTo>
                  <a:lnTo>
                    <a:pt x="43307" y="351790"/>
                  </a:lnTo>
                  <a:lnTo>
                    <a:pt x="3009506" y="351790"/>
                  </a:lnTo>
                  <a:lnTo>
                    <a:pt x="3009506" y="1315720"/>
                  </a:lnTo>
                  <a:lnTo>
                    <a:pt x="3052813" y="1315720"/>
                  </a:lnTo>
                  <a:lnTo>
                    <a:pt x="3052813" y="351790"/>
                  </a:lnTo>
                  <a:lnTo>
                    <a:pt x="3052813" y="308610"/>
                  </a:lnTo>
                  <a:close/>
                </a:path>
                <a:path w="3479800" h="1316354">
                  <a:moveTo>
                    <a:pt x="3479342" y="0"/>
                  </a:moveTo>
                  <a:lnTo>
                    <a:pt x="2734322" y="0"/>
                  </a:lnTo>
                  <a:lnTo>
                    <a:pt x="2734322" y="43180"/>
                  </a:lnTo>
                  <a:lnTo>
                    <a:pt x="3436035" y="43180"/>
                  </a:lnTo>
                  <a:lnTo>
                    <a:pt x="3436035" y="1315720"/>
                  </a:lnTo>
                  <a:lnTo>
                    <a:pt x="3479342" y="1315720"/>
                  </a:lnTo>
                  <a:lnTo>
                    <a:pt x="3479342" y="43180"/>
                  </a:lnTo>
                  <a:lnTo>
                    <a:pt x="3479342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437" y="592182"/>
              <a:ext cx="17983199" cy="969481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53300" y="96235"/>
            <a:ext cx="2485390" cy="4635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50" spc="340"/>
              <a:t>DASHBOARD</a:t>
            </a:r>
            <a:endParaRPr sz="28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4897466"/>
            <a:ext cx="3537585" cy="5389880"/>
            <a:chOff x="0" y="4897466"/>
            <a:chExt cx="3537585" cy="53898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7344" y="9834362"/>
              <a:ext cx="189664" cy="18966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5662" y="9834362"/>
              <a:ext cx="189664" cy="18966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3981" y="9834362"/>
              <a:ext cx="189664" cy="18966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9834362"/>
              <a:ext cx="179271" cy="18966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7344" y="9552681"/>
              <a:ext cx="189664" cy="1896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5662" y="9552681"/>
              <a:ext cx="189664" cy="18966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3981" y="9552681"/>
              <a:ext cx="189664" cy="18966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2692" y="9552681"/>
              <a:ext cx="179271" cy="18966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7344" y="9270999"/>
              <a:ext cx="189664" cy="18966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5662" y="9270999"/>
              <a:ext cx="189664" cy="18966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3981" y="9270999"/>
              <a:ext cx="189664" cy="18966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2692" y="9271000"/>
              <a:ext cx="179271" cy="18966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7344" y="8989317"/>
              <a:ext cx="189664" cy="18966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5662" y="8989317"/>
              <a:ext cx="189664" cy="18966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3981" y="8989317"/>
              <a:ext cx="189664" cy="18966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8989317"/>
              <a:ext cx="179271" cy="18966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7344" y="8707636"/>
              <a:ext cx="189664" cy="18966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5662" y="8707636"/>
              <a:ext cx="189664" cy="18966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3981" y="8707636"/>
              <a:ext cx="189664" cy="18966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8707637"/>
              <a:ext cx="179271" cy="18966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67344" y="8436131"/>
              <a:ext cx="189664" cy="17948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5663" y="8436131"/>
              <a:ext cx="189664" cy="17948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3981" y="8436131"/>
              <a:ext cx="189664" cy="17948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2692" y="8436131"/>
              <a:ext cx="179271" cy="179488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14742002" y="0"/>
            <a:ext cx="3546475" cy="5402580"/>
            <a:chOff x="14742002" y="0"/>
            <a:chExt cx="3546475" cy="5402580"/>
          </a:xfrm>
        </p:grpSpPr>
        <p:sp>
          <p:nvSpPr>
            <p:cNvPr id="28" name="object 28" descr=""/>
            <p:cNvSpPr/>
            <p:nvPr/>
          </p:nvSpPr>
          <p:spPr>
            <a:xfrm>
              <a:off x="14741994" y="0"/>
              <a:ext cx="3546475" cy="5402580"/>
            </a:xfrm>
            <a:custGeom>
              <a:avLst/>
              <a:gdLst/>
              <a:ahLst/>
              <a:cxnLst/>
              <a:rect l="l" t="t" r="r" b="b"/>
              <a:pathLst>
                <a:path w="3546475" h="5402580">
                  <a:moveTo>
                    <a:pt x="3545903" y="5323598"/>
                  </a:moveTo>
                  <a:lnTo>
                    <a:pt x="3545713" y="5323878"/>
                  </a:lnTo>
                  <a:lnTo>
                    <a:pt x="51904" y="0"/>
                  </a:lnTo>
                  <a:lnTo>
                    <a:pt x="0" y="0"/>
                  </a:lnTo>
                  <a:lnTo>
                    <a:pt x="3493986" y="5323878"/>
                  </a:lnTo>
                  <a:lnTo>
                    <a:pt x="3545573" y="5402478"/>
                  </a:lnTo>
                  <a:lnTo>
                    <a:pt x="3545903" y="5402478"/>
                  </a:lnTo>
                  <a:lnTo>
                    <a:pt x="3545903" y="5323598"/>
                  </a:lnTo>
                  <a:close/>
                </a:path>
                <a:path w="3546475" h="5402580">
                  <a:moveTo>
                    <a:pt x="3546005" y="0"/>
                  </a:moveTo>
                  <a:lnTo>
                    <a:pt x="1086446" y="0"/>
                  </a:lnTo>
                  <a:lnTo>
                    <a:pt x="3546005" y="3637267"/>
                  </a:lnTo>
                  <a:lnTo>
                    <a:pt x="354600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7741226" y="2073401"/>
              <a:ext cx="547370" cy="2787650"/>
            </a:xfrm>
            <a:custGeom>
              <a:avLst/>
              <a:gdLst/>
              <a:ahLst/>
              <a:cxnLst/>
              <a:rect l="l" t="t" r="r" b="b"/>
              <a:pathLst>
                <a:path w="547369" h="2787650">
                  <a:moveTo>
                    <a:pt x="546773" y="341414"/>
                  </a:moveTo>
                  <a:lnTo>
                    <a:pt x="0" y="341414"/>
                  </a:lnTo>
                  <a:lnTo>
                    <a:pt x="0" y="384594"/>
                  </a:lnTo>
                  <a:lnTo>
                    <a:pt x="0" y="2744254"/>
                  </a:lnTo>
                  <a:lnTo>
                    <a:pt x="0" y="2787434"/>
                  </a:lnTo>
                  <a:lnTo>
                    <a:pt x="546773" y="2787434"/>
                  </a:lnTo>
                  <a:lnTo>
                    <a:pt x="546773" y="2744254"/>
                  </a:lnTo>
                  <a:lnTo>
                    <a:pt x="43307" y="2744254"/>
                  </a:lnTo>
                  <a:lnTo>
                    <a:pt x="43307" y="384594"/>
                  </a:lnTo>
                  <a:lnTo>
                    <a:pt x="546773" y="384594"/>
                  </a:lnTo>
                  <a:lnTo>
                    <a:pt x="546773" y="341414"/>
                  </a:lnTo>
                  <a:close/>
                </a:path>
                <a:path w="547369" h="2787650">
                  <a:moveTo>
                    <a:pt x="546773" y="0"/>
                  </a:moveTo>
                  <a:lnTo>
                    <a:pt x="15163" y="0"/>
                  </a:lnTo>
                  <a:lnTo>
                    <a:pt x="15163" y="43294"/>
                  </a:lnTo>
                  <a:lnTo>
                    <a:pt x="546773" y="43294"/>
                  </a:lnTo>
                  <a:lnTo>
                    <a:pt x="54677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851" y="275911"/>
              <a:ext cx="189664" cy="18966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2532" y="275911"/>
              <a:ext cx="189664" cy="18966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94214" y="275911"/>
              <a:ext cx="189664" cy="18966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075897" y="275910"/>
              <a:ext cx="179271" cy="18966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230851" y="557592"/>
              <a:ext cx="189664" cy="189664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512532" y="557592"/>
              <a:ext cx="189664" cy="18966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94214" y="557592"/>
              <a:ext cx="189664" cy="18966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075897" y="557592"/>
              <a:ext cx="179271" cy="189664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839273"/>
              <a:ext cx="189664" cy="18966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839273"/>
              <a:ext cx="189664" cy="18966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839273"/>
              <a:ext cx="189664" cy="18966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839273"/>
              <a:ext cx="179271" cy="18966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120955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120955"/>
              <a:ext cx="189664" cy="18966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120955"/>
              <a:ext cx="189664" cy="189664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402636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120955"/>
              <a:ext cx="179271" cy="18966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402636"/>
              <a:ext cx="189664" cy="18966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402636"/>
              <a:ext cx="189664" cy="189664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402636"/>
              <a:ext cx="179271" cy="189664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30852" y="1684318"/>
              <a:ext cx="189664" cy="179488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215" y="1684318"/>
              <a:ext cx="189664" cy="179488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533" y="1684318"/>
              <a:ext cx="189664" cy="179488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75897" y="1684318"/>
              <a:ext cx="179271" cy="179488"/>
            </a:xfrm>
            <a:prstGeom prst="rect">
              <a:avLst/>
            </a:prstGeom>
          </p:spPr>
        </p:pic>
      </p:grpSp>
      <p:grpSp>
        <p:nvGrpSpPr>
          <p:cNvPr id="54" name="object 54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55" name="object 55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58" name="object 58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0" name="object 60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511042" y="4907718"/>
            <a:ext cx="85725" cy="85724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511042" y="6012617"/>
            <a:ext cx="85725" cy="85724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511042" y="7669968"/>
            <a:ext cx="85725" cy="85724"/>
          </a:xfrm>
          <a:prstGeom prst="rect">
            <a:avLst/>
          </a:prstGeom>
        </p:spPr>
      </p:pic>
      <p:sp>
        <p:nvSpPr>
          <p:cNvPr id="63" name="object 63" descr=""/>
          <p:cNvSpPr txBox="1"/>
          <p:nvPr/>
        </p:nvSpPr>
        <p:spPr>
          <a:xfrm>
            <a:off x="3834595" y="3617552"/>
            <a:ext cx="5304155" cy="5263515"/>
          </a:xfrm>
          <a:prstGeom prst="rect">
            <a:avLst/>
          </a:prstGeom>
          <a:ln w="76200">
            <a:solidFill>
              <a:srgbClr val="9AD9E8"/>
            </a:solidFill>
          </a:ln>
        </p:spPr>
        <p:txBody>
          <a:bodyPr wrap="square" lIns="0" tIns="3587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25"/>
              </a:spcBef>
            </a:pPr>
            <a:r>
              <a:rPr dirty="0" sz="3500" spc="340" b="1">
                <a:latin typeface="Trebuchet MS"/>
                <a:cs typeface="Trebuchet MS"/>
              </a:rPr>
              <a:t>KEY</a:t>
            </a:r>
            <a:r>
              <a:rPr dirty="0" sz="3500" spc="-100" b="1">
                <a:latin typeface="Trebuchet MS"/>
                <a:cs typeface="Trebuchet MS"/>
              </a:rPr>
              <a:t> </a:t>
            </a:r>
            <a:r>
              <a:rPr dirty="0" sz="3500" spc="305" b="1">
                <a:latin typeface="Trebuchet MS"/>
                <a:cs typeface="Trebuchet MS"/>
              </a:rPr>
              <a:t>INSIGHTS</a:t>
            </a:r>
            <a:endParaRPr sz="3500">
              <a:latin typeface="Trebuchet MS"/>
              <a:cs typeface="Trebuchet MS"/>
            </a:endParaRPr>
          </a:p>
          <a:p>
            <a:pPr algn="ctr" marL="1019175" marR="335915">
              <a:lnSpc>
                <a:spcPct val="116900"/>
              </a:lnSpc>
              <a:spcBef>
                <a:spcPts val="380"/>
              </a:spcBef>
            </a:pPr>
            <a:r>
              <a:rPr dirty="0" sz="3100" spc="-30">
                <a:latin typeface="Tahoma"/>
                <a:cs typeface="Tahoma"/>
              </a:rPr>
              <a:t>Certain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categories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130">
                <a:latin typeface="Tahoma"/>
                <a:cs typeface="Tahoma"/>
              </a:rPr>
              <a:t>show </a:t>
            </a:r>
            <a:r>
              <a:rPr dirty="0" sz="3100" spc="-120">
                <a:latin typeface="Tahoma"/>
                <a:cs typeface="Tahoma"/>
              </a:rPr>
              <a:t>higher</a:t>
            </a:r>
            <a:r>
              <a:rPr dirty="0" sz="3100" spc="-470">
                <a:latin typeface="Tahoma"/>
                <a:cs typeface="Tahoma"/>
              </a:rPr>
              <a:t> </a:t>
            </a:r>
            <a:r>
              <a:rPr dirty="0" sz="3100" spc="-55">
                <a:latin typeface="Tahoma"/>
                <a:cs typeface="Tahoma"/>
              </a:rPr>
              <a:t>fraud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frequency </a:t>
            </a:r>
            <a:r>
              <a:rPr dirty="0" sz="3100" spc="-105">
                <a:latin typeface="Tahoma"/>
                <a:cs typeface="Tahoma"/>
              </a:rPr>
              <a:t>Fraudulent</a:t>
            </a:r>
            <a:r>
              <a:rPr dirty="0" sz="3100" spc="-45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transactions </a:t>
            </a:r>
            <a:r>
              <a:rPr dirty="0" sz="3100" spc="-155">
                <a:latin typeface="Tahoma"/>
                <a:cs typeface="Tahoma"/>
              </a:rPr>
              <a:t>show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125">
                <a:latin typeface="Tahoma"/>
                <a:cs typeface="Tahoma"/>
              </a:rPr>
              <a:t>abnormal</a:t>
            </a:r>
            <a:r>
              <a:rPr dirty="0" sz="3100" spc="-459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amount patterns</a:t>
            </a:r>
            <a:endParaRPr sz="3100">
              <a:latin typeface="Tahoma"/>
              <a:cs typeface="Tahoma"/>
            </a:endParaRPr>
          </a:p>
          <a:p>
            <a:pPr algn="ctr" marL="962025" marR="278765" indent="-635">
              <a:lnSpc>
                <a:spcPct val="116900"/>
              </a:lnSpc>
            </a:pPr>
            <a:r>
              <a:rPr dirty="0" sz="3100" spc="-65">
                <a:latin typeface="Tahoma"/>
                <a:cs typeface="Tahoma"/>
              </a:rPr>
              <a:t>Geographic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clusters </a:t>
            </a:r>
            <a:r>
              <a:rPr dirty="0" sz="3100" spc="-75">
                <a:latin typeface="Tahoma"/>
                <a:cs typeface="Tahoma"/>
              </a:rPr>
              <a:t>indicate</a:t>
            </a:r>
            <a:r>
              <a:rPr dirty="0" sz="3100" spc="-445">
                <a:latin typeface="Tahoma"/>
                <a:cs typeface="Tahoma"/>
              </a:rPr>
              <a:t> </a:t>
            </a:r>
            <a:r>
              <a:rPr dirty="0" sz="3100" spc="-140">
                <a:latin typeface="Tahoma"/>
                <a:cs typeface="Tahoma"/>
              </a:rPr>
              <a:t>high-</a:t>
            </a:r>
            <a:r>
              <a:rPr dirty="0" sz="3100" spc="-10">
                <a:latin typeface="Tahoma"/>
                <a:cs typeface="Tahoma"/>
              </a:rPr>
              <a:t>risk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 spc="-30">
                <a:latin typeface="Tahoma"/>
                <a:cs typeface="Tahoma"/>
              </a:rPr>
              <a:t>regions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64" name="object 64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124064" y="4907718"/>
            <a:ext cx="85725" cy="85724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124064" y="6012617"/>
            <a:ext cx="85725" cy="85724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124064" y="7117518"/>
            <a:ext cx="85725" cy="85724"/>
          </a:xfrm>
          <a:prstGeom prst="rect">
            <a:avLst/>
          </a:prstGeom>
        </p:spPr>
      </p:pic>
      <p:sp>
        <p:nvSpPr>
          <p:cNvPr id="67" name="object 67" descr=""/>
          <p:cNvSpPr txBox="1"/>
          <p:nvPr/>
        </p:nvSpPr>
        <p:spPr>
          <a:xfrm>
            <a:off x="9447617" y="3617552"/>
            <a:ext cx="5304155" cy="5263515"/>
          </a:xfrm>
          <a:prstGeom prst="rect">
            <a:avLst/>
          </a:prstGeom>
          <a:ln w="76200">
            <a:solidFill>
              <a:srgbClr val="9AD9E8"/>
            </a:solidFill>
          </a:ln>
        </p:spPr>
        <p:txBody>
          <a:bodyPr wrap="square" lIns="0" tIns="3587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25"/>
              </a:spcBef>
            </a:pPr>
            <a:r>
              <a:rPr dirty="0" sz="3500" spc="340" b="1">
                <a:latin typeface="Trebuchet MS"/>
                <a:cs typeface="Trebuchet MS"/>
              </a:rPr>
              <a:t>BUSINESS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spc="250" b="1">
                <a:latin typeface="Trebuchet MS"/>
                <a:cs typeface="Trebuchet MS"/>
              </a:rPr>
              <a:t>VALUE</a:t>
            </a:r>
            <a:endParaRPr sz="3500">
              <a:latin typeface="Trebuchet MS"/>
              <a:cs typeface="Trebuchet MS"/>
            </a:endParaRPr>
          </a:p>
          <a:p>
            <a:pPr algn="ctr" marL="1619250" marR="936625">
              <a:lnSpc>
                <a:spcPct val="116900"/>
              </a:lnSpc>
              <a:spcBef>
                <a:spcPts val="380"/>
              </a:spcBef>
            </a:pPr>
            <a:r>
              <a:rPr dirty="0" sz="3100" spc="-80">
                <a:latin typeface="Tahoma"/>
                <a:cs typeface="Tahoma"/>
              </a:rPr>
              <a:t>Helps</a:t>
            </a:r>
            <a:r>
              <a:rPr dirty="0" sz="3100" spc="-495">
                <a:latin typeface="Tahoma"/>
                <a:cs typeface="Tahoma"/>
              </a:rPr>
              <a:t> </a:t>
            </a:r>
            <a:r>
              <a:rPr dirty="0" sz="3100" spc="-40">
                <a:latin typeface="Tahoma"/>
                <a:cs typeface="Tahoma"/>
              </a:rPr>
              <a:t>early</a:t>
            </a:r>
            <a:r>
              <a:rPr dirty="0" sz="3100" spc="-495">
                <a:latin typeface="Tahoma"/>
                <a:cs typeface="Tahoma"/>
              </a:rPr>
              <a:t> </a:t>
            </a:r>
            <a:r>
              <a:rPr dirty="0" sz="3100" spc="-40">
                <a:latin typeface="Tahoma"/>
                <a:cs typeface="Tahoma"/>
              </a:rPr>
              <a:t>fraud </a:t>
            </a:r>
            <a:r>
              <a:rPr dirty="0" sz="3100" spc="-10">
                <a:latin typeface="Tahoma"/>
                <a:cs typeface="Tahoma"/>
              </a:rPr>
              <a:t>detection</a:t>
            </a:r>
            <a:endParaRPr sz="3100">
              <a:latin typeface="Tahoma"/>
              <a:cs typeface="Tahoma"/>
            </a:endParaRPr>
          </a:p>
          <a:p>
            <a:pPr algn="ctr" marL="1021080" marR="337820">
              <a:lnSpc>
                <a:spcPct val="116900"/>
              </a:lnSpc>
            </a:pPr>
            <a:r>
              <a:rPr dirty="0" sz="3100" spc="-55">
                <a:latin typeface="Tahoma"/>
                <a:cs typeface="Tahoma"/>
              </a:rPr>
              <a:t>Supports</a:t>
            </a:r>
            <a:r>
              <a:rPr dirty="0" sz="3100" spc="-480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risk</a:t>
            </a:r>
            <a:r>
              <a:rPr dirty="0" sz="3100" spc="-475">
                <a:latin typeface="Tahoma"/>
                <a:cs typeface="Tahoma"/>
              </a:rPr>
              <a:t> </a:t>
            </a:r>
            <a:r>
              <a:rPr dirty="0" sz="3100" spc="-120">
                <a:latin typeface="Tahoma"/>
                <a:cs typeface="Tahoma"/>
              </a:rPr>
              <a:t>monitoring </a:t>
            </a:r>
            <a:r>
              <a:rPr dirty="0" sz="3100" spc="-10">
                <a:latin typeface="Tahoma"/>
                <a:cs typeface="Tahoma"/>
              </a:rPr>
              <a:t>teams</a:t>
            </a:r>
            <a:endParaRPr sz="3100">
              <a:latin typeface="Tahoma"/>
              <a:cs typeface="Tahoma"/>
            </a:endParaRPr>
          </a:p>
          <a:p>
            <a:pPr algn="ctr" marL="1206500" marR="523875">
              <a:lnSpc>
                <a:spcPct val="116900"/>
              </a:lnSpc>
            </a:pPr>
            <a:r>
              <a:rPr dirty="0" sz="3100" spc="-35">
                <a:latin typeface="Tahoma"/>
                <a:cs typeface="Tahoma"/>
              </a:rPr>
              <a:t>Reduces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70">
                <a:latin typeface="Tahoma"/>
                <a:cs typeface="Tahoma"/>
              </a:rPr>
              <a:t>financial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20">
                <a:latin typeface="Tahoma"/>
                <a:cs typeface="Tahoma"/>
              </a:rPr>
              <a:t>loss </a:t>
            </a:r>
            <a:r>
              <a:rPr dirty="0" sz="3100" spc="-110">
                <a:latin typeface="Tahoma"/>
                <a:cs typeface="Tahoma"/>
              </a:rPr>
              <a:t>and</a:t>
            </a:r>
            <a:r>
              <a:rPr dirty="0" sz="3100" spc="-490">
                <a:latin typeface="Tahoma"/>
                <a:cs typeface="Tahoma"/>
              </a:rPr>
              <a:t> </a:t>
            </a:r>
            <a:r>
              <a:rPr dirty="0" sz="3100" spc="-145">
                <a:latin typeface="Tahoma"/>
                <a:cs typeface="Tahoma"/>
              </a:rPr>
              <a:t>manual</a:t>
            </a:r>
            <a:r>
              <a:rPr dirty="0" sz="3100" spc="-484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effort</a:t>
            </a:r>
            <a:endParaRPr sz="3100">
              <a:latin typeface="Tahoma"/>
              <a:cs typeface="Tahoma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69" name="object 69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6294" rIns="0" bIns="0" rtlCol="0" vert="horz">
            <a:spAutoFit/>
          </a:bodyPr>
          <a:lstStyle/>
          <a:p>
            <a:pPr marL="873760">
              <a:lnSpc>
                <a:spcPct val="100000"/>
              </a:lnSpc>
              <a:spcBef>
                <a:spcPts val="130"/>
              </a:spcBef>
            </a:pPr>
            <a:r>
              <a:rPr dirty="0" spc="459"/>
              <a:t>INSIGHTS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" name="object 6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8824" y="3947460"/>
            <a:ext cx="85725" cy="857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896696" y="3585611"/>
            <a:ext cx="9170035" cy="168275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3100" spc="-70">
                <a:latin typeface="Tahoma"/>
                <a:cs typeface="Tahoma"/>
              </a:rPr>
              <a:t>End-</a:t>
            </a:r>
            <a:r>
              <a:rPr dirty="0" sz="3100" spc="-85">
                <a:latin typeface="Tahoma"/>
                <a:cs typeface="Tahoma"/>
              </a:rPr>
              <a:t>to-</a:t>
            </a:r>
            <a:r>
              <a:rPr dirty="0" sz="3100" spc="-125">
                <a:latin typeface="Tahoma"/>
                <a:cs typeface="Tahoma"/>
              </a:rPr>
              <a:t>end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35">
                <a:latin typeface="Tahoma"/>
                <a:cs typeface="Tahoma"/>
              </a:rPr>
              <a:t>analytics</a:t>
            </a:r>
            <a:r>
              <a:rPr dirty="0" sz="3100" spc="-459">
                <a:latin typeface="Tahoma"/>
                <a:cs typeface="Tahoma"/>
              </a:rPr>
              <a:t> </a:t>
            </a:r>
            <a:r>
              <a:rPr dirty="0" sz="3100" spc="-60">
                <a:latin typeface="Tahoma"/>
                <a:cs typeface="Tahoma"/>
              </a:rPr>
              <a:t>project</a:t>
            </a:r>
            <a:r>
              <a:rPr dirty="0" sz="3100" spc="-46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completed</a:t>
            </a:r>
            <a:endParaRPr sz="3100">
              <a:latin typeface="Tahoma"/>
              <a:cs typeface="Tahoma"/>
            </a:endParaRPr>
          </a:p>
          <a:p>
            <a:pPr algn="ctr" marL="12700" marR="5080">
              <a:lnSpc>
                <a:spcPct val="116900"/>
              </a:lnSpc>
            </a:pPr>
            <a:r>
              <a:rPr dirty="0" sz="3100" spc="-75">
                <a:latin typeface="Tahoma"/>
                <a:cs typeface="Tahoma"/>
              </a:rPr>
              <a:t>Hands-</a:t>
            </a:r>
            <a:r>
              <a:rPr dirty="0" sz="3100" spc="-204">
                <a:latin typeface="Tahoma"/>
                <a:cs typeface="Tahoma"/>
              </a:rPr>
              <a:t>on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 spc="-60">
                <a:latin typeface="Tahoma"/>
                <a:cs typeface="Tahoma"/>
              </a:rPr>
              <a:t>experience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>
                <a:latin typeface="Tahoma"/>
                <a:cs typeface="Tahoma"/>
              </a:rPr>
              <a:t>across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 spc="-85">
                <a:latin typeface="Tahoma"/>
                <a:cs typeface="Tahoma"/>
              </a:rPr>
              <a:t>Excel,</a:t>
            </a:r>
            <a:r>
              <a:rPr dirty="0" sz="3100" spc="-434">
                <a:latin typeface="Tahoma"/>
                <a:cs typeface="Tahoma"/>
              </a:rPr>
              <a:t> </a:t>
            </a:r>
            <a:r>
              <a:rPr dirty="0" sz="3100" spc="-20">
                <a:latin typeface="Tahoma"/>
                <a:cs typeface="Tahoma"/>
              </a:rPr>
              <a:t>SQL,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 spc="-170">
                <a:latin typeface="Tahoma"/>
                <a:cs typeface="Tahoma"/>
              </a:rPr>
              <a:t>Python,</a:t>
            </a:r>
            <a:r>
              <a:rPr dirty="0" sz="3100" spc="-440">
                <a:latin typeface="Tahoma"/>
                <a:cs typeface="Tahoma"/>
              </a:rPr>
              <a:t> </a:t>
            </a:r>
            <a:r>
              <a:rPr dirty="0" sz="3100" spc="-20">
                <a:latin typeface="Tahoma"/>
                <a:cs typeface="Tahoma"/>
              </a:rPr>
              <a:t>Tableau </a:t>
            </a:r>
            <a:r>
              <a:rPr dirty="0" sz="3100" spc="-70">
                <a:latin typeface="Tahoma"/>
                <a:cs typeface="Tahoma"/>
              </a:rPr>
              <a:t>Focused</a:t>
            </a:r>
            <a:r>
              <a:rPr dirty="0" sz="3100" spc="-455">
                <a:latin typeface="Tahoma"/>
                <a:cs typeface="Tahoma"/>
              </a:rPr>
              <a:t> </a:t>
            </a:r>
            <a:r>
              <a:rPr dirty="0" sz="3100" spc="-204">
                <a:latin typeface="Tahoma"/>
                <a:cs typeface="Tahoma"/>
              </a:rPr>
              <a:t>on</a:t>
            </a:r>
            <a:r>
              <a:rPr dirty="0" sz="3100" spc="-455">
                <a:latin typeface="Tahoma"/>
                <a:cs typeface="Tahoma"/>
              </a:rPr>
              <a:t> </a:t>
            </a:r>
            <a:r>
              <a:rPr dirty="0" sz="3100" spc="-45">
                <a:latin typeface="Tahoma"/>
                <a:cs typeface="Tahoma"/>
              </a:rPr>
              <a:t>business-</a:t>
            </a:r>
            <a:r>
              <a:rPr dirty="0" sz="3100" spc="-65">
                <a:latin typeface="Tahoma"/>
                <a:cs typeface="Tahoma"/>
              </a:rPr>
              <a:t>driven</a:t>
            </a:r>
            <a:r>
              <a:rPr dirty="0" sz="3100" spc="-450">
                <a:latin typeface="Tahoma"/>
                <a:cs typeface="Tahoma"/>
              </a:rPr>
              <a:t> </a:t>
            </a:r>
            <a:r>
              <a:rPr dirty="0" sz="3100" spc="-55">
                <a:latin typeface="Tahoma"/>
                <a:cs typeface="Tahoma"/>
              </a:rPr>
              <a:t>fraud</a:t>
            </a:r>
            <a:r>
              <a:rPr dirty="0" sz="3100" spc="-455">
                <a:latin typeface="Tahoma"/>
                <a:cs typeface="Tahoma"/>
              </a:rPr>
              <a:t> </a:t>
            </a:r>
            <a:r>
              <a:rPr dirty="0" sz="3100" spc="-10">
                <a:latin typeface="Tahoma"/>
                <a:cs typeface="Tahoma"/>
              </a:rPr>
              <a:t>analysis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8824" y="4499910"/>
            <a:ext cx="85725" cy="857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8824" y="5052360"/>
            <a:ext cx="85725" cy="85724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6021565" y="1558016"/>
            <a:ext cx="6200140" cy="1980564"/>
            <a:chOff x="6021565" y="1558016"/>
            <a:chExt cx="6200140" cy="1980564"/>
          </a:xfrm>
        </p:grpSpPr>
        <p:sp>
          <p:nvSpPr>
            <p:cNvPr id="13" name="object 13" descr=""/>
            <p:cNvSpPr/>
            <p:nvPr/>
          </p:nvSpPr>
          <p:spPr>
            <a:xfrm>
              <a:off x="6021565" y="1558016"/>
              <a:ext cx="5992495" cy="1773555"/>
            </a:xfrm>
            <a:custGeom>
              <a:avLst/>
              <a:gdLst/>
              <a:ahLst/>
              <a:cxnLst/>
              <a:rect l="l" t="t" r="r" b="b"/>
              <a:pathLst>
                <a:path w="5992495" h="1773554">
                  <a:moveTo>
                    <a:pt x="5991889" y="1363241"/>
                  </a:moveTo>
                  <a:lnTo>
                    <a:pt x="0" y="1363241"/>
                  </a:lnTo>
                  <a:lnTo>
                    <a:pt x="0" y="0"/>
                  </a:lnTo>
                  <a:lnTo>
                    <a:pt x="5991889" y="0"/>
                  </a:lnTo>
                  <a:lnTo>
                    <a:pt x="5991889" y="1363241"/>
                  </a:lnTo>
                  <a:close/>
                </a:path>
                <a:path w="5992495" h="1773554">
                  <a:moveTo>
                    <a:pt x="343581" y="1773322"/>
                  </a:moveTo>
                  <a:lnTo>
                    <a:pt x="343581" y="1363241"/>
                  </a:lnTo>
                  <a:lnTo>
                    <a:pt x="1011347" y="1363241"/>
                  </a:lnTo>
                  <a:lnTo>
                    <a:pt x="343581" y="1773322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40671" y="3063414"/>
              <a:ext cx="133350" cy="408940"/>
            </a:xfrm>
            <a:custGeom>
              <a:avLst/>
              <a:gdLst/>
              <a:ahLst/>
              <a:cxnLst/>
              <a:rect l="l" t="t" r="r" b="b"/>
              <a:pathLst>
                <a:path w="133350" h="408939">
                  <a:moveTo>
                    <a:pt x="0" y="0"/>
                  </a:moveTo>
                  <a:lnTo>
                    <a:pt x="133349" y="0"/>
                  </a:lnTo>
                  <a:lnTo>
                    <a:pt x="133349" y="408435"/>
                  </a:lnTo>
                  <a:lnTo>
                    <a:pt x="0" y="408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163749" y="1700199"/>
              <a:ext cx="5991225" cy="1771650"/>
            </a:xfrm>
            <a:custGeom>
              <a:avLst/>
              <a:gdLst/>
              <a:ahLst/>
              <a:cxnLst/>
              <a:rect l="l" t="t" r="r" b="b"/>
              <a:pathLst>
                <a:path w="5991225" h="1771650">
                  <a:moveTo>
                    <a:pt x="346263" y="1771649"/>
                  </a:moveTo>
                  <a:lnTo>
                    <a:pt x="1011350" y="1363214"/>
                  </a:lnTo>
                </a:path>
                <a:path w="5991225" h="1771650">
                  <a:moveTo>
                    <a:pt x="5991224" y="0"/>
                  </a:moveTo>
                  <a:lnTo>
                    <a:pt x="22" y="0"/>
                  </a:lnTo>
                  <a:lnTo>
                    <a:pt x="0" y="1363214"/>
                  </a:lnTo>
                  <a:lnTo>
                    <a:pt x="343597" y="1363214"/>
                  </a:lnTo>
                </a:path>
              </a:pathLst>
            </a:custGeom>
            <a:ln w="133349">
              <a:solidFill>
                <a:srgbClr val="56C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175100" y="2996739"/>
              <a:ext cx="4980305" cy="133350"/>
            </a:xfrm>
            <a:custGeom>
              <a:avLst/>
              <a:gdLst/>
              <a:ahLst/>
              <a:cxnLst/>
              <a:rect l="l" t="t" r="r" b="b"/>
              <a:pathLst>
                <a:path w="4980305" h="133350">
                  <a:moveTo>
                    <a:pt x="0" y="0"/>
                  </a:moveTo>
                  <a:lnTo>
                    <a:pt x="4979873" y="0"/>
                  </a:lnTo>
                  <a:lnTo>
                    <a:pt x="4979873" y="133349"/>
                  </a:lnTo>
                  <a:lnTo>
                    <a:pt x="0" y="133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6294" rIns="0" bIns="0" rtlCol="0" vert="horz">
            <a:spAutoFit/>
          </a:bodyPr>
          <a:lstStyle/>
          <a:p>
            <a:pPr marL="175895">
              <a:lnSpc>
                <a:spcPct val="100000"/>
              </a:lnSpc>
              <a:spcBef>
                <a:spcPts val="130"/>
              </a:spcBef>
            </a:pPr>
            <a:r>
              <a:rPr dirty="0" spc="590"/>
              <a:t>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3" name="object 3" descr="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" name="object 6" descr="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48349" y="4002717"/>
            <a:ext cx="6791325" cy="202946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8350" spc="869"/>
              <a:t>THANK</a:t>
            </a:r>
            <a:r>
              <a:rPr dirty="0" sz="8350" spc="-229"/>
              <a:t> </a:t>
            </a:r>
            <a:r>
              <a:rPr dirty="0" sz="8350" spc="935"/>
              <a:t>YOU</a:t>
            </a:r>
            <a:endParaRPr sz="835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4800" spc="-145" b="0">
                <a:latin typeface="Tahoma"/>
                <a:cs typeface="Tahoma"/>
              </a:rPr>
              <a:t>By</a:t>
            </a:r>
            <a:r>
              <a:rPr dirty="0" sz="4800" spc="-775" b="0">
                <a:latin typeface="Tahoma"/>
                <a:cs typeface="Tahoma"/>
              </a:rPr>
              <a:t> </a:t>
            </a:r>
            <a:r>
              <a:rPr dirty="0" sz="4800" spc="-130" b="0">
                <a:latin typeface="Tahoma"/>
                <a:cs typeface="Tahoma"/>
              </a:rPr>
              <a:t>Ali</a:t>
            </a:r>
            <a:r>
              <a:rPr dirty="0" sz="4800" spc="-775" b="0">
                <a:latin typeface="Tahoma"/>
                <a:cs typeface="Tahoma"/>
              </a:rPr>
              <a:t> </a:t>
            </a:r>
            <a:r>
              <a:rPr dirty="0" sz="4800" spc="-155" b="0">
                <a:latin typeface="Tahoma"/>
                <a:cs typeface="Tahoma"/>
              </a:rPr>
              <a:t>Hamza</a:t>
            </a:r>
            <a:r>
              <a:rPr dirty="0" sz="4800" spc="-770" b="0">
                <a:latin typeface="Tahoma"/>
                <a:cs typeface="Tahoma"/>
              </a:rPr>
              <a:t> </a:t>
            </a:r>
            <a:r>
              <a:rPr dirty="0" sz="4800" spc="-25" b="0">
                <a:latin typeface="Tahoma"/>
                <a:cs typeface="Tahoma"/>
              </a:rPr>
              <a:t>Shaikh</a:t>
            </a:r>
            <a:endParaRPr sz="4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Hamza Shaikh</dc:creator>
  <cp:keywords>DAHARSmu_OA,BAGwJrjSTTA,0</cp:keywords>
  <dc:title>Blue and White Minimalist Project Presentation</dc:title>
  <dcterms:created xsi:type="dcterms:W3CDTF">2026-02-03T18:10:55Z</dcterms:created>
  <dcterms:modified xsi:type="dcterms:W3CDTF">2026-02-03T18:10:55Z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2026-02-03T00:00:00Z</vt:filetime>
  </property>
  <property fmtid="{D5CDD505-2E9C-101B-9397-08002B2CF9AE}" pid="5" name="Producer">
    <vt:lpwstr>Canva</vt:lpwstr>
  </property>
</Properties>
</file>